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878aae578042db" /><Relationship Type="http://schemas.openxmlformats.org/officeDocument/2006/relationships/extended-properties" Target="/docProps/app.xml" Id="Rbee3844c2c774501" /><Relationship Type="http://schemas.openxmlformats.org/officeDocument/2006/relationships/officeDocument" Target="/ppt/presentation.xml" Id="R2bf002277b444ca8" /></Relationships>
</file>

<file path=ppt/presentation.xml><?xml version="1.0" encoding="utf-8"?>
<p:presentation xmlns:p="http://schemas.openxmlformats.org/presentationml/2006/main">
  <p:sldMasterIdLst>
    <p:sldMasterId xmlns:r="http://schemas.openxmlformats.org/officeDocument/2006/relationships" id="2147483648" r:id="R31ba39f7b6474833"/>
  </p:sldMasterIdLst>
  <p:notesMasterIdLst>
    <p:notesMasterId xmlns:r="http://schemas.openxmlformats.org/officeDocument/2006/relationships" r:id="Rddc731909ca14159"/>
  </p:notesMasterIdLst>
  <p:sldIdLst>
    <p:sldId xmlns:r="http://schemas.openxmlformats.org/officeDocument/2006/relationships" id="256" r:id="Rbc355c693f7a43c6"/>
    <p:sldId xmlns:r="http://schemas.openxmlformats.org/officeDocument/2006/relationships" id="257" r:id="R91c498d22d554468"/>
    <p:sldId xmlns:r="http://schemas.openxmlformats.org/officeDocument/2006/relationships" id="258" r:id="R57608f05d17d4b1b"/>
    <p:sldId xmlns:r="http://schemas.openxmlformats.org/officeDocument/2006/relationships" id="259" r:id="R99415a9b900e4afc"/>
    <p:sldId xmlns:r="http://schemas.openxmlformats.org/officeDocument/2006/relationships" id="260" r:id="R7b15fe98ed5a4f22"/>
    <p:sldId xmlns:r="http://schemas.openxmlformats.org/officeDocument/2006/relationships" id="261" r:id="Rf16008e418d84525"/>
    <p:sldId xmlns:r="http://schemas.openxmlformats.org/officeDocument/2006/relationships" id="262" r:id="R296b90d0cf30408d"/>
    <p:sldId xmlns:r="http://schemas.openxmlformats.org/officeDocument/2006/relationships" id="263" r:id="Ra8c7d4157f204ec9"/>
    <p:sldId xmlns:r="http://schemas.openxmlformats.org/officeDocument/2006/relationships" id="264" r:id="Racc64aaba083456b"/>
    <p:sldId xmlns:r="http://schemas.openxmlformats.org/officeDocument/2006/relationships" id="265" r:id="R276da01e82ca48f7"/>
    <p:sldId xmlns:r="http://schemas.openxmlformats.org/officeDocument/2006/relationships" id="266" r:id="R732e4c47aa8042e2"/>
    <p:sldId xmlns:r="http://schemas.openxmlformats.org/officeDocument/2006/relationships" id="267" r:id="R4eb9f35a71ce4d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ca9cf3435f4396" /><Relationship Type="http://schemas.openxmlformats.org/officeDocument/2006/relationships/slideMaster" Target="/ppt/slideMasters/slideMaster1.xml" Id="R31ba39f7b6474833" /><Relationship Type="http://schemas.openxmlformats.org/officeDocument/2006/relationships/notesMaster" Target="/ppt/notesMasters/notesMaster1.xml" Id="Rddc731909ca14159" /><Relationship Type="http://schemas.openxmlformats.org/officeDocument/2006/relationships/presProps" Target="/ppt/presProps.xml" Id="Re5c5730a4b8242e0" /><Relationship Type="http://schemas.openxmlformats.org/officeDocument/2006/relationships/tableStyles" Target="/ppt/tableStyles.xml" Id="Rb0658a5ee0974440" /><Relationship Type="http://schemas.openxmlformats.org/officeDocument/2006/relationships/slide" Target="/ppt/slides/slide1.xml" Id="Rbc355c693f7a43c6" /><Relationship Type="http://schemas.openxmlformats.org/officeDocument/2006/relationships/slide" Target="/ppt/slides/slide2.xml" Id="R91c498d22d554468" /><Relationship Type="http://schemas.openxmlformats.org/officeDocument/2006/relationships/slide" Target="/ppt/slides/slide3.xml" Id="R57608f05d17d4b1b" /><Relationship Type="http://schemas.openxmlformats.org/officeDocument/2006/relationships/slide" Target="/ppt/slides/slide4.xml" Id="R99415a9b900e4afc" /><Relationship Type="http://schemas.openxmlformats.org/officeDocument/2006/relationships/slide" Target="/ppt/slides/slide5.xml" Id="R7b15fe98ed5a4f22" /><Relationship Type="http://schemas.openxmlformats.org/officeDocument/2006/relationships/slide" Target="/ppt/slides/slide6.xml" Id="Rf16008e418d84525" /><Relationship Type="http://schemas.openxmlformats.org/officeDocument/2006/relationships/slide" Target="/ppt/slides/slide7.xml" Id="R296b90d0cf30408d" /><Relationship Type="http://schemas.openxmlformats.org/officeDocument/2006/relationships/slide" Target="/ppt/slides/slide8.xml" Id="Ra8c7d4157f204ec9" /><Relationship Type="http://schemas.openxmlformats.org/officeDocument/2006/relationships/slide" Target="/ppt/slides/slide9.xml" Id="Racc64aaba083456b" /><Relationship Type="http://schemas.openxmlformats.org/officeDocument/2006/relationships/slide" Target="/ppt/slides/slide10.xml" Id="R276da01e82ca48f7" /><Relationship Type="http://schemas.openxmlformats.org/officeDocument/2006/relationships/slide" Target="/ppt/slides/slide11.xml" Id="R732e4c47aa8042e2" /><Relationship Type="http://schemas.openxmlformats.org/officeDocument/2006/relationships/slide" Target="/ppt/slides/slide12.xml" Id="R4eb9f35a71ce4d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1b8bf67d414f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43c11922bf484a" /><Relationship Type="http://schemas.openxmlformats.org/officeDocument/2006/relationships/notesMaster" Target="/ppt/notesMasters/notesMaster1.xml" Id="R66614d5c5cc445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221b67076c4d6b" /><Relationship Type="http://schemas.openxmlformats.org/officeDocument/2006/relationships/notesMaster" Target="/ppt/notesMasters/notesMaster1.xml" Id="Rb19da935806e4e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23b6d457af4993" /><Relationship Type="http://schemas.openxmlformats.org/officeDocument/2006/relationships/notesMaster" Target="/ppt/notesMasters/notesMaster1.xml" Id="Rca439d2408b543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52d08f2f9c441b" /><Relationship Type="http://schemas.openxmlformats.org/officeDocument/2006/relationships/notesMaster" Target="/ppt/notesMasters/notesMaster1.xml" Id="Ra0b00d56b50040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d0b6f6d07f403e" /><Relationship Type="http://schemas.openxmlformats.org/officeDocument/2006/relationships/notesMaster" Target="/ppt/notesMasters/notesMaster1.xml" Id="Rcc57da58c7e546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2dfb35f4a9427f" /><Relationship Type="http://schemas.openxmlformats.org/officeDocument/2006/relationships/notesMaster" Target="/ppt/notesMasters/notesMaster1.xml" Id="R20f9c797371f48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7344654ccc4149" /><Relationship Type="http://schemas.openxmlformats.org/officeDocument/2006/relationships/notesMaster" Target="/ppt/notesMasters/notesMaster1.xml" Id="R9335f1eba20045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8b5dffa6f04a9c" /><Relationship Type="http://schemas.openxmlformats.org/officeDocument/2006/relationships/notesMaster" Target="/ppt/notesMasters/notesMaster1.xml" Id="R5ed21b50762f43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a405604712414f" /><Relationship Type="http://schemas.openxmlformats.org/officeDocument/2006/relationships/notesMaster" Target="/ppt/notesMasters/notesMaster1.xml" Id="R15c74be4774849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eaf3c3388948a7" /><Relationship Type="http://schemas.openxmlformats.org/officeDocument/2006/relationships/notesMaster" Target="/ppt/notesMasters/notesMaster1.xml" Id="R3414dc6a58214c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bf63a38741441d" /><Relationship Type="http://schemas.openxmlformats.org/officeDocument/2006/relationships/notesMaster" Target="/ppt/notesMasters/notesMaster1.xml" Id="Rc256e4e0ed7945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c11a6c60444f4a" /><Relationship Type="http://schemas.openxmlformats.org/officeDocument/2006/relationships/notesMaster" Target="/ppt/notesMasters/notesMaster1.xml" Id="Rca74e109b98c45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Imagine borrowing against assets without knowing your final interest bill. That is the problem behind Symbolon.</a:t>
            </a:r>
          </a:p>
          <a:p xmlns:a="http://schemas.openxmlformats.org/drawingml/2006/main">
            <a:r>
              <a:t/>
            </a:r>
          </a:p>
          <a:p xmlns:a="http://schemas.openxmlformats.org/drawingml/2006/main">
            <a:r>
              <a:t>Target timing: 7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Hypothetical opening situation. No personal borrowing episode is claimed for the presenter.</a:t>
            </a:r>
          </a:p>
          <a:p xmlns:a="http://schemas.openxmlformats.org/drawingml/2006/main">
            <a:r>
              <a:t>Product: https://github.com/EndPx/symbolon</a:t>
            </a:r>
          </a:p>
          <a:p xmlns:a="http://schemas.openxmlformats.org/drawingml/2006/main">
            <a:r>
              <a:t>Original logo: repository brand/logo-mark.png.</a:t>
            </a:r>
          </a:p>
          <a:p xmlns:a="http://schemas.openxmlformats.org/drawingml/2006/main">
            <a:br/>
            <a:r>
              <a:t>Cover positioning: Private fixed-rate financing on Canton. This is the founder-selected fixed-rate tagline retained in the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Floating rates can change before repayment. A treasury team financing a known period still cannot lock its interest budget.</a:t>
            </a:r>
          </a:p>
          <a:p xmlns:a="http://schemas.openxmlformats.org/drawingml/2006/main">
            <a:r>
              <a:t/>
            </a:r>
          </a:p>
          <a:p xmlns:a="http://schemas.openxmlformats.org/drawingml/2006/main">
            <a:r>
              <a:t>Target timing: 10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Initial customer hypothesis: treasury manager at a small or mid-sized digital-asset fund with Canton exposure or a concrete adoption plan. This profile remains unvalidated.</a:t>
            </a:r>
          </a:p>
          <a:p xmlns:a="http://schemas.openxmlformats.org/drawingml/2006/main">
            <a:r>
              <a:t>Aave rate mechanism: https://aave.com/help/borrowing/borrow-tokens</a:t>
            </a:r>
          </a:p>
          <a:p xmlns:a="http://schemas.openxmlformats.org/drawingml/2006/main">
            <a:r>
              <a:t>GTM hypothesis: https://github.com/EndPx/symbolon/blob/main/docs/submission/form/04-gtm.md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Rate uncertainty affects lenders too. This Aave USDC lending series moves against an illustrative fixed line. Symbolon lets counterparties agree their rate before settlement.</a:t>
            </a:r>
          </a:p>
          <a:p xmlns:a="http://schemas.openxmlformats.org/drawingml/2006/main">
            <a:r>
              <a:t/>
            </a:r>
          </a:p>
          <a:p xmlns:a="http://schemas.openxmlformats.org/drawingml/2006/main">
            <a:r>
              <a:t>Target timing: 10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The user supplied this existing landing chart. It shows the Aave V3 USDC Ethereum variable LENDING/supply rate from 10 August 2025 to 8 August 2026, not borrowing rates. The gold line is an illustrative fixed rate at the historical average, not a Symbolon quote, measured Symbolon return or promise. Its labels, date range and source credit are preserved unchanged.</a:t>
            </a:r>
          </a:p>
          <a:p xmlns:a="http://schemas.openxmlformats.org/drawingml/2006/main">
            <a:r>
              <a:t>Landing source: web/src/App.tsx, Why a fixed rate section. Series source: web/src/rates.ts, DefiLlama apyBase percentages, sampled every third day for display. Generation source: scripts/fetch-rates.ps1. No historical data is refreshed, extrapolated or reconstructed from pixels for this revision. The supply/lending APY series is distinct from Symbolon's simple annualized APR / ACT/360 contract convention. The unrelated Galaxy &gt;15% historical BORROW-rate callout has been removed from this slide.</a:t>
            </a:r>
          </a:p>
          <a:p xmlns:a="http://schemas.openxmlformats.org/drawingml/2006/main">
            <a:r>
              <a:t>DeFiLlama pool: https://defillama.com/yields/pool/aa70268e-4b52-42bf-a116-608b370f9501</a:t>
            </a:r>
          </a:p>
          <a:p xmlns:a="http://schemas.openxmlformats.org/drawingml/2006/main">
            <a:r>
              <a:t>Data API: https://yields.llama.fi/chart/aa70268e-4b52-42bf-a116-608b370f9501</a:t>
            </a:r>
          </a:p>
          <a:p xmlns:a="http://schemas.openxmlformats.org/drawingml/2006/main">
            <a:r>
              <a:t>Original supplied image: codex-clipboard-595073bd-d1d2-4468-ba3e-b6b18f63be08.png.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Symbolon lets lenders offer fixed APRs. One thousand for thirty days at five point two percent means a contractual repayment of one thousand four point three three.</a:t>
            </a:r>
          </a:p>
          <a:p xmlns:a="http://schemas.openxmlformats.org/drawingml/2006/main">
            <a:r>
              <a:t/>
            </a:r>
          </a:p>
          <a:p xmlns:a="http://schemas.openxmlformats.org/drawingml/2006/main">
            <a:r>
              <a:t>Target timing: 13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Illustrative two-lender comparison, not a new observed customer quote. Interest = principal × APR × 30/360. Lender A: 1,000 × 0.052 × 30/360 = 4.3333333333 interest and 1,004.3333333333 repayment. Lender B: 4.8333333333 interest and 1,004.8333333333 repayment. Exact on-ledger values have 10 decimal places. All examples use simulated USDCx-demo holdings, without native-asset integration. Fixed financing can be more or less expensive than floating borrowing.</a:t>
            </a:r>
          </a:p>
          <a:p xmlns:a="http://schemas.openxmlformats.org/drawingml/2006/main">
            <a:r>
              <a:t>Daml implementation: https://github.com/EndPx/symbolon/blob/main/daml/Symbolon/Repo.daml</a:t>
            </a:r>
          </a:p>
          <a:p xmlns:a="http://schemas.openxmlformats.org/drawingml/2006/main">
            <a:r>
              <a:t>Reference agreement: https://github.com/EndPx/symbolon/blob/main/docs/submission/evidence/shared-devnet.md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Canton applies the agreed rules and exchanges cash against collateral atomically. Requests reach Symbolon users. Quotes and positions stay bilateral. Issuers and operators remain trust dependencies.</a:t>
            </a:r>
          </a:p>
          <a:p xmlns:a="http://schemas.openxmlformats.org/drawingml/2006/main">
            <a:r>
              <a:t/>
            </a:r>
          </a:p>
          <a:p xmlns:a="http://schemas.openxmlformats.org/drawingml/2006/main">
            <a:r>
              <a:t>Target timing: 12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Why a ledger: counterparties need shared, enforced authorization and simultaneous cash/collateral exchange. Why Canton: Daml authorization, contract-specific and subtransaction privacy, and atomic settlement fit that need. Symbolon's open request board deliberately discloses borrower identity, principal, collateral quantity and tenor to all authenticated supported Symbolon parties after publication consent. It does not preserve request confidentiality. Separate lender quotes and accepted positions remain bilateral. The offchain application/database operator sees stored discovery records. Participant administrators and hosting operators remain trust dependencies. An issuer can observe its holdings and asset movements and may infer financing activity. Accounts controlling the same party see the same party view. Prior disclosures cannot be revoked.</a:t>
            </a:r>
          </a:p>
          <a:p xmlns:a="http://schemas.openxmlformats.org/drawingml/2006/main">
            <a:r>
              <a:t>Canton privacy: https://docs.digitalasset.com/overview/3.5/explanations/ledger-model/ledger-privacy.html</a:t>
            </a:r>
          </a:p>
          <a:p xmlns:a="http://schemas.openxmlformats.org/drawingml/2006/main">
            <a:r>
              <a:t>Canton protocol: https://www.canton.network/protocol</a:t>
            </a:r>
          </a:p>
          <a:p xmlns:a="http://schemas.openxmlformats.org/drawingml/2006/main">
            <a:r>
              <a:t>Core contracts: https://github.com/EndPx/symbolon/blob/main/daml/Symbolon/Repo.daml</a:t>
            </a:r>
          </a:p>
          <a:p xmlns:a="http://schemas.openxmlformats.org/drawingml/2006/main">
            <a:r>
              <a:t>Demo holdings: https://github.com/EndPx/symbolon/blob/main/daml/Symbolon/DemoAsset.daml</a:t>
            </a:r>
          </a:p>
          <a:p xmlns:a="http://schemas.openxmlformats.org/drawingml/2006/main">
            <a:r>
              <a:t>Current direct-flow status: A founder-operated internal direct Open RFQ cycle completed on canonical https://symbolon.endpx.cloud/app using synthetic authorized borrower/dealer parties and simulated cBTC-demo/USDCx-demo. Request b510ba2f was published, the original 7% funded quote reserved 1,000 cash and synced without a duplicate reservation, acceptance settled atomically and withdrew the request, and full repurchase of 1,005.8333333333 USDCx-demo returned 0.025 cBTC-demo with ClosedRepo: Repurchased. This is engineering evidence, not external-customer adoption, native-asset settlement or wallet signing. Historical governance/margin evidence remains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Publish once. Lenders quote directly with reserved cash. The borrower compares offers, accepts one, and later repays to recover collateral.</a:t>
            </a:r>
          </a:p>
          <a:p xmlns:a="http://schemas.openxmlformats.org/drawingml/2006/main">
            <a:r>
              <a:t/>
            </a:r>
          </a:p>
          <a:p xmlns:a="http://schemas.openxmlformats.org/drawingml/2006/main">
            <a:r>
              <a:t>Target timing: 12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Latest intended interaction: borrower consents once to share an open request, all authenticated supported Symbolon parties can discover it, any distinct authorized lender can submit a funded APR quote without registration or separate detail-access permission. Borrower reviews full quote terms and accepts one. A funded quote reserves cash, and acceptance exchanges cash against pledged collateral atomically. The fixed agreement requires full repayment even on early closure. No automatic quote, rollover, matching time or guaranteed lender liquidity is claimed.</a:t>
            </a:r>
          </a:p>
          <a:p xmlns:a="http://schemas.openxmlformats.org/drawingml/2006/main">
            <a:r>
              <a:t>Live app: https://symbolon.endpx.cloud/app</a:t>
            </a:r>
          </a:p>
          <a:p xmlns:a="http://schemas.openxmlformats.org/drawingml/2006/main">
            <a:r>
              <a:t>Product documentation: https://symbolon.gitbook.io/symbolon-docs/</a:t>
            </a:r>
          </a:p>
          <a:p xmlns:a="http://schemas.openxmlformats.org/drawingml/2006/main">
            <a:r>
              <a:t>Core contracts: https://github.com/EndPx/symbolon/blob/main/daml/Symbolon/Repo.daml</a:t>
            </a:r>
          </a:p>
          <a:p xmlns:a="http://schemas.openxmlformats.org/drawingml/2006/main">
            <a:r>
              <a:t>Image scope: actual application screenshot.</a:t>
            </a:r>
          </a:p>
          <a:p xmlns:a="http://schemas.openxmlformats.org/drawingml/2006/main">
            <a:r>
              <a:t>Current direct-flow execution status: A founder-operated internal direct Open RFQ cycle completed on canonical https://symbolon.endpx.cloud/app using synthetic authorized borrower/dealer parties and simulated cBTC-demo/USDCx-demo. Request b510ba2f was published, the original 7% funded quote reserved 1,000 cash and synced without a duplicate reservation, acceptance settled atomically and withdrew the request, and full repurchase of 1,005.8333333333 USDCx-demo returned 0.025 cBTC-demo with ClosedRepo: Repurchased. This is engineering evidence, not external-customer adoption, native-asset settlement or wallet signing. Historical governance/margin evidence remains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Collateral risk remains. Falling prices can trigger a margin call, requiring a top-up. Even early repayment still costs the full agreed amount.</a:t>
            </a:r>
          </a:p>
          <a:p xmlns:a="http://schemas.openxmlformats.org/drawingml/2006/main">
            <a:r>
              <a:t/>
            </a:r>
          </a:p>
          <a:p xmlns:a="http://schemas.openxmlformats.org/drawingml/2006/main">
            <a:r>
              <a:t>Target timing: 10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Illustrative health factor uses the actual Symbolon convention: collateralAmount × price / (cashAmount × maintenanceMargin). This prototype uses principal, not accrued total debt, as the margin denominator. 0.025 × 60,000 / (1,000 × 1.05) = 1.42857, displayed 1.43. At 36,000: 0.85714, displayed 0.86. After top-up to 0.030: 1.02857, displayed 1.03. A fresh mark below agreed maintenance can support a margin call; cure periods and deadline/freshness conditions apply. The 30-day, 5.2% repayment remains 1,004.3333333333 simulated cash units. All amounts refer to cBTC-demo and USDCx-demo holdings, with no native token integration. Fixed repayment does not eliminate margin calls, maturity default, counterparty risk or network fees. Closeout in this prototype releases collateral but does not demonstrate a collateral sale or full surplus/deficiency accounting.</a:t>
            </a:r>
          </a:p>
          <a:p xmlns:a="http://schemas.openxmlformats.org/drawingml/2006/main">
            <a:r>
              <a:t>Implementation: https://github.com/EndPx/symbolon/blob/main/daml/Symbolon/Repo.daml</a:t>
            </a:r>
          </a:p>
          <a:p xmlns:a="http://schemas.openxmlformats.org/drawingml/2006/main">
            <a:r>
              <a:t>Retained run: https://github.com/EndPx/symbolon/blob/main/docs/submission/evidence/shared-devnet.md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direct financing flow has completed on DevNet with simulated assets. One borrower episode and roughly three to five informal explorers provide early feedback. Institutional adoption remains unvalidated.</a:t>
            </a:r>
          </a:p>
          <a:p xmlns:a="http://schemas.openxmlformats.org/drawingml/2006/main">
            <a:r>
              <a:t/>
            </a:r>
          </a:p>
          <a:p xmlns:a="http://schemas.openxmlformats.org/drawingml/2006/main">
            <a:r>
              <a:t>Target timing: 12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Engineering evidence: existing retained core reference run has 20 committed transactions on shared HackCanton DevNet, one expected below-threshold rejection, and governed mark/margin/top-up/Repurchased closure. Separate public-app internal cycles have their own evidence. These do not establish real cBTC/USDCx settlement, external wallet signing or independent operators.</a:t>
            </a:r>
          </a:p>
          <a:p xmlns:a="http://schemas.openxmlformats.org/drawingml/2006/main">
            <a:r>
              <a:t>Shared reference: https://github.com/EndPx/symbolon/blob/main/docs/submission/evidence/shared-devnet.md</a:t>
            </a:r>
          </a:p>
          <a:p xmlns:a="http://schemas.openxmlformats.org/drawingml/2006/main">
            <a:r>
              <a:t>Public frontend: https://github.com/EndPx/symbolon/blob/main/docs/submission/evidence/public-devnet.md</a:t>
            </a:r>
          </a:p>
          <a:p xmlns:a="http://schemas.openxmlformats.org/drawingml/2006/main">
            <a:r>
              <a:t>BitSafe Contribution Pool separately has reproducible 2-of-3 governed mark execution using three LocalNet participants and DecMan services on one operator host. It is not the Gold entry or an independent-hosting/outage claim.</a:t>
            </a:r>
          </a:p>
          <a:p xmlns:a="http://schemas.openxmlformats.org/drawingml/2006/main">
            <a:r>
              <a:t>BitSafe proof: https://github.com/EndPx/symbolon/blob/main/docs/submission/bitsafe-contribution.md</a:t>
            </a:r>
          </a:p>
          <a:p xmlns:a="http://schemas.openxmlformats.org/drawingml/2006/main">
            <a:r>
              <a:t>Human evidence: one founder-reported Aave USDC loan against ETH at roughly 60% LTV, closed after about two months. No actual rate spike or quantified budgeting consequence was established. Approximately 3–5 informal community/friend app explorers are founder-reported; exact count, roles, dates and completed steps remain undocumented, and overlap with the borrower is unknown. Fictional personas never count as testers.</a:t>
            </a:r>
          </a:p>
          <a:p xmlns:a="http://schemas.openxmlformats.org/drawingml/2006/main">
            <a:r>
              <a:t>Discovery record: https://github.com/EndPx/symbolon/blob/main/docs/submission/borrower-discovery.md</a:t>
            </a:r>
          </a:p>
          <a:p xmlns:a="http://schemas.openxmlformats.org/drawingml/2006/main">
            <a:r>
              <a:t>Current new direct-board status: A founder-operated internal direct Open RFQ cycle completed on canonical https://symbolon.endpx.cloud/app using synthetic authorized borrower/dealer parties and simulated cBTC-demo/USDCx-demo. Request b510ba2f was published, the original 7% funded quote reserved 1,000 cash and synced without a duplicate reservation, acceptance settled atomically and withdrew the request, and full repurchase of 1,005.8333333333 USDCx-demo returned 0.025 cBTC-demo with ClosedRepo: Repurchased. This is engineering evidence, not external-customer adoption, native-asset settlement or wallet signing. Historical governance/margin evidence remains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proposed fee is zero point one percent of interest from each side. For five thousand in interest, Symbolon would receive ten. The demo currently collects nothing.</a:t>
            </a:r>
          </a:p>
          <a:p xmlns:a="http://schemas.openxmlformats.org/drawingml/2006/main">
            <a:r>
              <a:t/>
            </a:r>
          </a:p>
          <a:p xmlns:a="http://schemas.openxmlformats.org/drawingml/2006/main">
            <a:r>
              <a:t>Target timing: 10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The intended fee base is contractual term interest I, not principal P. Borrower fee = I × 0.001. Lender fee = I × 0.001. Intended total protocol revenue = I × 0.002. A generic illustrative I = 5,000 USDCx yields 5 from each party, 10 total. It does not describe achieved volume. For the 1,000 principal / 5.2% APR / 30-day ACT/360 quote on slide 4, I = 4.3333333333, each fee is approximately 0.0043333333 and total approximately 0.0086666667 depending the future rounding policy. Conceptually a future borrower pays P + I + borrower fee, and lender receives P + I minus lender fee. No fee collection is implemented or demonstrated in current Daml settlement. Current protocol fees and revenue are zero. Willingness to pay remains unvalidated.</a:t>
            </a:r>
          </a:p>
          <a:p xmlns:a="http://schemas.openxmlformats.org/drawingml/2006/main">
            <a:r>
              <a:t>Current implementation: https://github.com/EndPx/symbolon/blob/main/daml/Symbolon/Repo.daml</a:t>
            </a:r>
          </a:p>
          <a:p xmlns:a="http://schemas.openxmlformats.org/drawingml/2006/main">
            <a:r>
              <a:t>Source: founder-selected intended model, 0.1% of interest from both borrower and lender, 10 October 2026 WIB.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Over ninety days, we plan operator interviews and an external borrower and lender rehearsal. Native assets and operational approval come before a real asset pilot.</a:t>
            </a:r>
          </a:p>
          <a:p xmlns:a="http://schemas.openxmlformats.org/drawingml/2006/main">
            <a:r>
              <a:t/>
            </a:r>
          </a:p>
          <a:p xmlns:a="http://schemas.openxmlformats.org/drawingml/2006/main">
            <a:r>
              <a:t>Target timing: 12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Proposed milestones rather than traction: first 90 days after the hackathon. Weeks 1–4: eight relevant operator interviews and three observed walkthroughs. Weeks 5–8: one external borrower/dealer simulated rehearsal, two additional walkthrough participants, and asset/oracle feasibility. Weeks 9–12: three external simulated cycles and an explicit go/no-go pilot decision. Acquisition channels are Canton ecosystem introductions and direct treasury outreach. No named institution is a customer or partner. Real-value pilot requires supported native token adapters, permissions, price lineage, closeout accounting, named operating responsibilities and review. MainNet timing is not promised.</a:t>
            </a:r>
          </a:p>
          <a:p xmlns:a="http://schemas.openxmlformats.org/drawingml/2006/main">
            <a:r>
              <a:t>GTM: https://github.com/EndPx/symbolon/blob/main/docs/submission/form/04-gtm.md</a:t>
            </a:r>
          </a:p>
          <a:p xmlns:a="http://schemas.openxmlformats.org/drawingml/2006/main">
            <a:r>
              <a:t>Discovery: https://github.com/EndPx/symbolon/blob/main/docs/submission/borrower-discovery.md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I'm albary, building Symbolon through EndPx.</a:t>
            </a:r>
          </a:p>
          <a:p xmlns:a="http://schemas.openxmlformats.org/drawingml/2006/main">
            <a:r>
              <a:t/>
            </a:r>
          </a:p>
          <a:p xmlns:a="http://schemas.openxmlformats.org/drawingml/2006/main">
            <a:r>
              <a:t>Target timing: 5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Presenter handle: albary. Project namespace: EndPx.</a:t>
            </a:r>
          </a:p>
          <a:p xmlns:a="http://schemas.openxmlformats.org/drawingml/2006/main">
            <a:r>
              <a:t>Public project: https://github.com/EndPx/symbolon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Try the app, read the docs, and inspect the source. Help shape the first treasury rehearsal. Thank you.</a:t>
            </a:r>
          </a:p>
          <a:p xmlns:a="http://schemas.openxmlformats.org/drawingml/2006/main">
            <a:r>
              <a:t/>
            </a:r>
          </a:p>
          <a:p xmlns:a="http://schemas.openxmlformats.org/drawingml/2006/main">
            <a:r>
              <a:t>Target timing: 7 seconds. Timing is an estimate, not a recorded rehearsal.</a:t>
            </a:r>
          </a:p>
          <a:p xmlns:a="http://schemas.openxmlformats.org/drawingml/2006/main">
            <a:r>
              <a:t/>
            </a:r>
          </a:p>
          <a:p xmlns:a="http://schemas.openxmlformats.org/drawingml/2006/main">
            <a:r>
              <a:t>Sources and claim scope</a:t>
            </a:r>
          </a:p>
          <a:p xmlns:a="http://schemas.openxmlformats.org/drawingml/2006/main">
            <a:r>
              <a:t>Canonical destinations. All three QR codes use genuine QR encoding with four-module quiet zones and M error correction.</a:t>
            </a:r>
          </a:p>
          <a:p xmlns:a="http://schemas.openxmlformats.org/drawingml/2006/main">
            <a:r>
              <a:t>Live DevNet app: https://symbolon.endpx.cloud/app</a:t>
            </a:r>
          </a:p>
          <a:p xmlns:a="http://schemas.openxmlformats.org/drawingml/2006/main">
            <a:r>
              <a:t>GitHub: https://github.com/EndPx/symbolon</a:t>
            </a:r>
          </a:p>
          <a:p xmlns:a="http://schemas.openxmlformats.org/drawingml/2006/main">
            <a:r>
              <a:t>Documentation: https://symbolon.gitbook.io/symbolon-docs/</a:t>
            </a:r>
          </a:p>
          <a:p xmlns:a="http://schemas.openxmlformats.org/drawingml/2006/main">
            <a:r>
              <a:t>The app requires a provider-authorized HackCanton/NODERS account. It is a simulated-asset DevNet prototype. TestNet work is deferred and MainNet financing is not enabled.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cb6c173a0249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523bc08f3f42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aa3083c8bb4e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d90af02cf94e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db6a0ab4da948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b3845b878643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0E302E-29BD-45F1-ACD3-8A64D8A961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ADC0C7-373C-48BF-A6A9-B964E2B0A0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704658-F3B1-47DB-AF32-F21018AFCE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71FFA0-2F14-4401-BB2A-4E05080C07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7A2FF7-AAA4-4EF6-AE7E-8FE34D069F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0EAF36-B19F-4790-A73E-06399F0199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F531BB-F058-4FE1-B38B-2F932C87BC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950F5B-F7F0-42D4-ABE4-1FC4CF069E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FFCEBA-C92A-45E9-980E-C28D65A83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6AD618-EE63-46D8-A809-EA20BCB0BE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0947407e1e45cb" /><Relationship Type="http://schemas.openxmlformats.org/officeDocument/2006/relationships/slideLayout" Target="/ppt/slideLayouts/slideLayout1.xml" Id="R3b243b880e244f46" /><Relationship Type="http://schemas.openxmlformats.org/officeDocument/2006/relationships/slideLayout" Target="/ppt/slideLayouts/slideLayout2.xml" Id="R5758f61fb48444f1" /><Relationship Type="http://schemas.openxmlformats.org/officeDocument/2006/relationships/slideLayout" Target="/ppt/slideLayouts/slideLayout3.xml" Id="Rc5b78c078d324813" /><Relationship Type="http://schemas.openxmlformats.org/officeDocument/2006/relationships/slideLayout" Target="/ppt/slideLayouts/slideLayout4.xml" Id="Rb5c493a3889a4c23" /><Relationship Type="http://schemas.openxmlformats.org/officeDocument/2006/relationships/slideLayout" Target="/ppt/slideLayouts/slideLayout5.xml" Id="R34c395b0a9834b51" /><Relationship Type="http://schemas.openxmlformats.org/officeDocument/2006/relationships/slideLayout" Target="/ppt/slideLayouts/slideLayout6.xml" Id="R53f7606fcf1f40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243b880e244f46"/>
    <p:sldLayoutId xmlns:r="http://schemas.openxmlformats.org/officeDocument/2006/relationships" id="2147483650" r:id="R5758f61fb48444f1"/>
    <p:sldLayoutId xmlns:r="http://schemas.openxmlformats.org/officeDocument/2006/relationships" id="2147483651" r:id="Rc5b78c078d324813"/>
    <p:sldLayoutId xmlns:r="http://schemas.openxmlformats.org/officeDocument/2006/relationships" id="2147483652" r:id="Rb5c493a3889a4c23"/>
    <p:sldLayoutId xmlns:r="http://schemas.openxmlformats.org/officeDocument/2006/relationships" id="2147483653" r:id="R34c395b0a9834b51"/>
    <p:sldLayoutId xmlns:r="http://schemas.openxmlformats.org/officeDocument/2006/relationships" id="2147483654" r:id="R53f7606fcf1f40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53fd8edf6e4f68" /><Relationship Type="http://schemas.openxmlformats.org/officeDocument/2006/relationships/image" Target="/ppt/media/image.png" Id="R3c2394e095524d82" /><Relationship Type="http://schemas.openxmlformats.org/officeDocument/2006/relationships/image" Target="/ppt/media/image2.png" Id="R4cac4e8b63174d03" /><Relationship Type="http://schemas.openxmlformats.org/officeDocument/2006/relationships/notesSlide" Target="/ppt/notesSlides/notesSlide1.xml" Id="R969af780e42a44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73f2bb2a304b71" /><Relationship Type="http://schemas.openxmlformats.org/officeDocument/2006/relationships/image" Target="/ppt/media/image3.png" Id="R81fc821014034a72" /><Relationship Type="http://schemas.openxmlformats.org/officeDocument/2006/relationships/notesSlide" Target="/ppt/notesSlides/notesSlide2.xml" Id="Rf3ef6c4ffc3541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a46328dc794227" /><Relationship Type="http://schemas.openxmlformats.org/officeDocument/2006/relationships/image" Target="/ppt/media/image3.png" Id="R0b548bf3bace4416" /><Relationship Type="http://schemas.openxmlformats.org/officeDocument/2006/relationships/image" Target="/ppt/media/image4.png" Id="Rcbd116ce937346e7" /><Relationship Type="http://schemas.openxmlformats.org/officeDocument/2006/relationships/notesSlide" Target="/ppt/notesSlides/notesSlide3.xml" Id="Rccfabf18da1448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333bee0c5444e0" /><Relationship Type="http://schemas.openxmlformats.org/officeDocument/2006/relationships/image" Target="/ppt/media/image3.png" Id="Rbbc3627ac3ab4b3a" /><Relationship Type="http://schemas.openxmlformats.org/officeDocument/2006/relationships/notesSlide" Target="/ppt/notesSlides/notesSlide4.xml" Id="R148db610689b42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358e62121c4601" /><Relationship Type="http://schemas.openxmlformats.org/officeDocument/2006/relationships/image" Target="/ppt/media/image3.png" Id="Rb274603945d343fc" /><Relationship Type="http://schemas.openxmlformats.org/officeDocument/2006/relationships/notesSlide" Target="/ppt/notesSlides/notesSlide5.xml" Id="Rdd1eecc776a342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a6619f4b7749ce" /><Relationship Type="http://schemas.openxmlformats.org/officeDocument/2006/relationships/image" Target="/ppt/media/image3.png" Id="R29eadba4475f4883" /><Relationship Type="http://schemas.openxmlformats.org/officeDocument/2006/relationships/image" Target="/ppt/media/image.jpeg" Id="R78d24ab6e21c4b42" /><Relationship Type="http://schemas.openxmlformats.org/officeDocument/2006/relationships/notesSlide" Target="/ppt/notesSlides/notesSlide6.xml" Id="R6c3ae43066274d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192e79df654b1e" /><Relationship Type="http://schemas.openxmlformats.org/officeDocument/2006/relationships/image" Target="/ppt/media/image3.png" Id="R2be3abf4f4aa4d81" /><Relationship Type="http://schemas.openxmlformats.org/officeDocument/2006/relationships/notesSlide" Target="/ppt/notesSlides/notesSlide7.xml" Id="R037d835fcda741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8beb4e0f0d42fb" /><Relationship Type="http://schemas.openxmlformats.org/officeDocument/2006/relationships/image" Target="/ppt/media/image3.png" Id="Re9f6f912fa194ef6" /><Relationship Type="http://schemas.openxmlformats.org/officeDocument/2006/relationships/notesSlide" Target="/ppt/notesSlides/notesSlide8.xml" Id="R48d6b626442647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e565b5a0c2478e" /><Relationship Type="http://schemas.openxmlformats.org/officeDocument/2006/relationships/image" Target="/ppt/media/image3.png" Id="Rfb57bd3434854f1e" /><Relationship Type="http://schemas.openxmlformats.org/officeDocument/2006/relationships/notesSlide" Target="/ppt/notesSlides/notesSlide9.xml" Id="R554db32c93364c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9be26c8d364747" /><Relationship Type="http://schemas.openxmlformats.org/officeDocument/2006/relationships/image" Target="/ppt/media/image3.png" Id="Ree081add5c6c4414" /><Relationship Type="http://schemas.openxmlformats.org/officeDocument/2006/relationships/notesSlide" Target="/ppt/notesSlides/notesSlide10.xml" Id="R613d3ec166a844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26e92a97271490a" /><Relationship Type="http://schemas.openxmlformats.org/officeDocument/2006/relationships/image" Target="/ppt/media/image3.png" Id="Rbf685236f33e4866" /><Relationship Type="http://schemas.openxmlformats.org/officeDocument/2006/relationships/image" Target="/ppt/media/image2.png" Id="R01ae5a7daec04691" /><Relationship Type="http://schemas.openxmlformats.org/officeDocument/2006/relationships/hyperlink" Target="https://github.com/EndPx/symbolon" TargetMode="External" Id="Rded66ad937da4eea" /><Relationship Type="http://schemas.openxmlformats.org/officeDocument/2006/relationships/notesSlide" Target="/ppt/notesSlides/notesSlide11.xml" Id="R8ea76e33c43a4a4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a4493ac39c04050" /><Relationship Type="http://schemas.openxmlformats.org/officeDocument/2006/relationships/image" Target="/ppt/media/image.png" Id="R66e83c674f14448b" /><Relationship Type="http://schemas.openxmlformats.org/officeDocument/2006/relationships/image" Target="/ppt/media/image2.png" Id="R2ba137ed03df4c66" /><Relationship Type="http://schemas.openxmlformats.org/officeDocument/2006/relationships/image" Target="/ppt/media/image5.png" Id="R35b1df123c11490f" /><Relationship Type="http://schemas.openxmlformats.org/officeDocument/2006/relationships/hyperlink" Target="https://symbolon.endpx.cloud/app" TargetMode="External" Id="R78b7641ff07e4912" /><Relationship Type="http://schemas.openxmlformats.org/officeDocument/2006/relationships/hyperlink" Target="https://symbolon.endpx.cloud/app" TargetMode="External" Id="Rffe73cc3d1074353" /><Relationship Type="http://schemas.openxmlformats.org/officeDocument/2006/relationships/image" Target="/ppt/media/image6.png" Id="R61ba8701ec57445c" /><Relationship Type="http://schemas.openxmlformats.org/officeDocument/2006/relationships/hyperlink" Target="https://github.com/EndPx/symbolon" TargetMode="External" Id="R3ef7d07a38c74aeb" /><Relationship Type="http://schemas.openxmlformats.org/officeDocument/2006/relationships/hyperlink" Target="https://github.com/EndPx/symbolon" TargetMode="External" Id="R63a3bcab1d944edd" /><Relationship Type="http://schemas.openxmlformats.org/officeDocument/2006/relationships/image" Target="/ppt/media/image7.png" Id="R13532a4bbd9f4d74" /><Relationship Type="http://schemas.openxmlformats.org/officeDocument/2006/relationships/hyperlink" Target="https://symbolon.gitbook.io/symbolon-docs/" TargetMode="External" Id="R66b09e46fbd043a1" /><Relationship Type="http://schemas.openxmlformats.org/officeDocument/2006/relationships/hyperlink" Target="https://symbolon.gitbook.io/symbolon-docs/" TargetMode="External" Id="Rb1c3d3921cde4245" /><Relationship Type="http://schemas.openxmlformats.org/officeDocument/2006/relationships/notesSlide" Target="/ppt/notesSlides/notesSlide12.xml" Id="R7ed8df08a9714158"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BE72D8FA-1BD1-4BC7-AFA3-C9164FB17E5C}"/>
              </a:ext>
            </a:extLst>
          </p:cNvPr>
          <p:cNvPicPr>
            <a:picLocks xmlns:a="http://schemas.openxmlformats.org/drawingml/2006/main" noChangeAspect="1"/>
          </p:cNvPicPr>
          <p:nvPr/>
        </p:nvPicPr>
        <p:blipFill>
          <a:blip xmlns:r="http://schemas.openxmlformats.org/officeDocument/2006/relationships" xmlns:a="http://schemas.openxmlformats.org/drawingml/2006/main" r:embed="R3c2394e095524d82"/>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64BAA8BB-2375-4B81-8AFC-DFDA74065EEB}"/>
              </a:ext>
            </a:extLst>
          </p:cNvPr>
          <p:cNvPicPr>
            <a:picLocks xmlns:a="http://schemas.openxmlformats.org/drawingml/2006/main" noChangeAspect="1"/>
          </p:cNvPicPr>
          <p:nvPr/>
        </p:nvPicPr>
        <p:blipFill>
          <a:blip xmlns:r="http://schemas.openxmlformats.org/officeDocument/2006/relationships" xmlns:a="http://schemas.openxmlformats.org/drawingml/2006/main" r:embed="R3c2394e095524d82"/>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EE563E9C-5404-4F4B-8679-6444C914BF75}"/>
              </a:ext>
            </a:extLst>
          </p:cNvPr>
          <p:cNvPicPr>
            <a:picLocks xmlns:a="http://schemas.openxmlformats.org/drawingml/2006/main" noChangeAspect="1"/>
          </p:cNvPicPr>
          <p:nvPr/>
        </p:nvPicPr>
        <p:blipFill>
          <a:blip xmlns:r="http://schemas.openxmlformats.org/officeDocument/2006/relationships" xmlns:a="http://schemas.openxmlformats.org/drawingml/2006/main" r:embed="R4cac4e8b63174d03"/>
          <a:stretch xmlns:a="http://schemas.openxmlformats.org/drawingml/2006/main"/>
        </p:blipFill>
        <p:spPr>
          <a:xfrm xmlns:a="http://schemas.openxmlformats.org/drawingml/2006/main">
            <a:off x="5324475" y="1552575"/>
            <a:ext cx="1543050" cy="1543050"/>
          </a:xfrm>
          <a:prstGeom xmlns:a="http://schemas.openxmlformats.org/drawingml/2006/main" prst="rect">
            <a:avLst/>
          </a:prstGeom>
        </p:spPr>
      </p:pic>
      <p:sp>
        <p:nvSpPr>
          <p:cNvPr id="4" name="Symbolon">
            <a:extLst xmlns:a="http://schemas.openxmlformats.org/drawingml/2006/main">
              <a:ext uri="{FF2B5EF4-FFF2-40B4-BE49-F238E27FC236}">
                <a16:creationId xmlns:a16="http://schemas.microsoft.com/office/drawing/2014/main" id="{779246BE-F874-4DA0-8393-7C648EB82C8B}"/>
              </a:ext>
            </a:extLst>
          </p:cNvPr>
          <p:cNvSpPr>
            <a:spLocks xmlns:a="http://schemas.openxmlformats.org/drawingml/2006/main" noGrp="1"/>
          </p:cNvSpPr>
          <p:nvPr/>
        </p:nvSpPr>
        <p:spPr>
          <a:xfrm xmlns:a="http://schemas.openxmlformats.org/drawingml/2006/main">
            <a:off x="2476500" y="3457575"/>
            <a:ext cx="723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7200" b="0">
                <a:solidFill>
                  <a:srgbClr val="F4E9CE"/>
                </a:solidFill>
                <a:latin typeface="Marcellus"/>
                <a:ea typeface="Marcellus"/>
                <a:cs typeface="Marcellus"/>
              </a:defRPr>
            </a:defPPr>
          </a:lstStyle>
          <a:p xmlns:a="http://schemas.openxmlformats.org/drawingml/2006/main">
            <a:pPr algn="ctr">
              <a:lnSpc>
                <a:spcPct val="112000"/>
              </a:lnSpc>
              <a:buNone/>
              <a:defRPr sz="7200" b="0">
                <a:solidFill>
                  <a:srgbClr val="F4E9CE"/>
                </a:solidFill>
                <a:latin typeface="Marcellus"/>
                <a:ea typeface="Marcellus"/>
                <a:cs typeface="Marcellus"/>
              </a:defRPr>
            </a:pPr>
            <a:r>
              <a:rPr sz="7200" b="0">
                <a:solidFill>
                  <a:srgbClr val="F4E9CE"/>
                </a:solidFill>
                <a:latin typeface="Marcellus"/>
                <a:ea typeface="Marcellus"/>
                <a:cs typeface="Marcellus"/>
              </a:rPr>
              <a:t>Symbolon</a:t>
            </a:r>
          </a:p>
        </p:txBody>
      </p:sp>
      <p:sp>
        <p:nvSpPr>
          <p:cNvPr id="6" name="Fixed-rate tagline">
            <a:extLst xmlns:a="http://schemas.openxmlformats.org/drawingml/2006/main">
              <a:ext uri="{FF2B5EF4-FFF2-40B4-BE49-F238E27FC236}">
                <a16:creationId xmlns:a16="http://schemas.microsoft.com/office/drawing/2014/main" id="{526A6BA6-3AEE-4000-B112-054FDEE64975}"/>
              </a:ext>
            </a:extLst>
          </p:cNvPr>
          <p:cNvSpPr>
            <a:spLocks xmlns:a="http://schemas.openxmlformats.org/drawingml/2006/main" noGrp="1"/>
          </p:cNvSpPr>
          <p:nvPr/>
        </p:nvSpPr>
        <p:spPr>
          <a:xfrm xmlns:a="http://schemas.openxmlformats.org/drawingml/2006/main">
            <a:off x="952500" y="49530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0">
                <a:solidFill>
                  <a:srgbClr val="C9A227"/>
                </a:solidFill>
                <a:latin typeface="Libre Franklin"/>
                <a:ea typeface="Libre Franklin"/>
                <a:cs typeface="Libre Franklin"/>
              </a:defRPr>
            </a:defPPr>
          </a:lstStyle>
          <a:p xmlns:a="http://schemas.openxmlformats.org/drawingml/2006/main">
            <a:pPr algn="ctr">
              <a:lnSpc>
                <a:spcPct val="112000"/>
              </a:lnSpc>
              <a:buNone/>
              <a:defRPr sz="2175" b="0">
                <a:solidFill>
                  <a:srgbClr val="C9A227"/>
                </a:solidFill>
                <a:latin typeface="Libre Franklin"/>
                <a:ea typeface="Libre Franklin"/>
                <a:cs typeface="Libre Franklin"/>
              </a:defRPr>
            </a:pPr>
            <a:r>
              <a:rPr sz="2175" b="0">
                <a:solidFill>
                  <a:srgbClr val="C9A227"/>
                </a:solidFill>
                <a:latin typeface="Libre Franklin"/>
                <a:ea typeface="Libre Franklin"/>
                <a:cs typeface="Libre Franklin"/>
              </a:rPr>
              <a:t>Private fixed-rate financing on Canton.</a:t>
            </a:r>
          </a:p>
        </p:txBody>
      </p:sp>
    </p:spTree>
    <p:extLst>
      <p:ext uri="{BB962C8B-B14F-4D97-AF65-F5344CB8AC3E}">
        <p14:creationId xmlns:p14="http://schemas.microsoft.com/office/powerpoint/2010/main" val="252339240"/>
      </p:ext>
    </p:extLst>
  </p:cSld>
</p:sld>
</file>

<file path=ppt/slides/slide2.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16B44E3-3D3F-49D1-86EE-C75B9B610DF7}"/>
              </a:ext>
            </a:extLst>
          </p:cNvPr>
          <p:cNvPicPr>
            <a:picLocks xmlns:a="http://schemas.openxmlformats.org/drawingml/2006/main" noChangeAspect="1"/>
          </p:cNvPicPr>
          <p:nvPr/>
        </p:nvPicPr>
        <p:blipFill>
          <a:blip xmlns:r="http://schemas.openxmlformats.org/officeDocument/2006/relationships" xmlns:a="http://schemas.openxmlformats.org/drawingml/2006/main" r:embed="R81fc821014034a72"/>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67E77A1-35B6-47E8-B1B4-4BC72AF65FFC}"/>
              </a:ext>
            </a:extLst>
          </p:cNvPr>
          <p:cNvPicPr>
            <a:picLocks xmlns:a="http://schemas.openxmlformats.org/drawingml/2006/main" noChangeAspect="1"/>
          </p:cNvPicPr>
          <p:nvPr/>
        </p:nvPicPr>
        <p:blipFill>
          <a:blip xmlns:r="http://schemas.openxmlformats.org/officeDocument/2006/relationships" xmlns:a="http://schemas.openxmlformats.org/drawingml/2006/main" r:embed="R81fc821014034a72"/>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Repayment uncertainty">
            <a:extLst xmlns:a="http://schemas.openxmlformats.org/drawingml/2006/main">
              <a:ext uri="{FF2B5EF4-FFF2-40B4-BE49-F238E27FC236}">
                <a16:creationId xmlns:a16="http://schemas.microsoft.com/office/drawing/2014/main" id="{488C1AE5-05ED-4BFE-9C80-C6590753EAE7}"/>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Repayment uncertainty</a:t>
            </a:r>
          </a:p>
        </p:txBody>
      </p:sp>
      <p:sp>
        <p:nvSpPr>
          <p:cNvPr id="4" name="A treasury team needs cash&#10;for a kno">
            <a:extLst xmlns:a="http://schemas.openxmlformats.org/drawingml/2006/main">
              <a:ext uri="{FF2B5EF4-FFF2-40B4-BE49-F238E27FC236}">
                <a16:creationId xmlns:a16="http://schemas.microsoft.com/office/drawing/2014/main" id="{2D406A52-ED37-474B-8F6F-641AD42878D8}"/>
              </a:ext>
            </a:extLst>
          </p:cNvPr>
          <p:cNvSpPr>
            <a:spLocks xmlns:a="http://schemas.openxmlformats.org/drawingml/2006/main" noGrp="1"/>
          </p:cNvSpPr>
          <p:nvPr/>
        </p:nvSpPr>
        <p:spPr>
          <a:xfrm xmlns:a="http://schemas.openxmlformats.org/drawingml/2006/main">
            <a:off x="685800" y="1762125"/>
            <a:ext cx="7239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0B1220"/>
                </a:solidFill>
                <a:latin typeface="Marcellus"/>
                <a:ea typeface="Marcellus"/>
                <a:cs typeface="Marcellus"/>
              </a:defRPr>
            </a:defPPr>
          </a:lstStyle>
          <a:p xmlns:a="http://schemas.openxmlformats.org/drawingml/2006/main">
            <a:pPr algn="l">
              <a:lnSpc>
                <a:spcPct val="112000"/>
              </a:lnSpc>
              <a:buNone/>
              <a:defRPr sz="3150" b="0">
                <a:solidFill>
                  <a:srgbClr val="0B1220"/>
                </a:solidFill>
                <a:latin typeface="Marcellus"/>
                <a:ea typeface="Marcellus"/>
                <a:cs typeface="Marcellus"/>
              </a:defRPr>
            </a:pPr>
            <a:r>
              <a:rPr sz="3150" b="0">
                <a:solidFill>
                  <a:srgbClr val="0B1220"/>
                </a:solidFill>
                <a:latin typeface="Marcellus"/>
                <a:ea typeface="Marcellus"/>
                <a:cs typeface="Marcellus"/>
              </a:rPr>
              <a:t>A treasury team needs cash</a:t>
            </a:r>
          </a:p>
          <a:p xmlns:a="http://schemas.openxmlformats.org/drawingml/2006/main">
            <a:pPr algn="l">
              <a:lnSpc>
                <a:spcPct val="112000"/>
              </a:lnSpc>
              <a:buNone/>
              <a:defRPr sz="3150" b="0">
                <a:solidFill>
                  <a:srgbClr val="0B1220"/>
                </a:solidFill>
                <a:latin typeface="Marcellus"/>
                <a:ea typeface="Marcellus"/>
                <a:cs typeface="Marcellus"/>
              </a:defRPr>
            </a:pPr>
            <a:r>
              <a:rPr sz="3150" b="0">
                <a:solidFill>
                  <a:srgbClr val="0B1220"/>
                </a:solidFill>
                <a:latin typeface="Marcellus"/>
                <a:ea typeface="Marcellus"/>
                <a:cs typeface="Marcellus"/>
              </a:rPr>
              <a:t>for a known period</a:t>
            </a:r>
          </a:p>
        </p:txBody>
      </p:sp>
      <p:sp>
        <p:nvSpPr>
          <p:cNvPr id="5" name="The rate can change while&#10;the positi">
            <a:extLst xmlns:a="http://schemas.openxmlformats.org/drawingml/2006/main">
              <a:ext uri="{FF2B5EF4-FFF2-40B4-BE49-F238E27FC236}">
                <a16:creationId xmlns:a16="http://schemas.microsoft.com/office/drawing/2014/main" id="{7978AF4D-DE34-45D1-90EF-1C29912E3736}"/>
              </a:ext>
            </a:extLst>
          </p:cNvPr>
          <p:cNvSpPr>
            <a:spLocks xmlns:a="http://schemas.openxmlformats.org/drawingml/2006/main" noGrp="1"/>
          </p:cNvSpPr>
          <p:nvPr/>
        </p:nvSpPr>
        <p:spPr>
          <a:xfrm xmlns:a="http://schemas.openxmlformats.org/drawingml/2006/main">
            <a:off x="685800" y="3381375"/>
            <a:ext cx="714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B5F65"/>
                </a:solidFill>
                <a:latin typeface="Libre Franklin"/>
                <a:ea typeface="Libre Franklin"/>
                <a:cs typeface="Libre Franklin"/>
              </a:defRPr>
            </a:defPPr>
          </a:lstStyle>
          <a:p xmlns:a="http://schemas.openxmlformats.org/drawingml/2006/main">
            <a:pPr algn="l">
              <a:lnSpc>
                <a:spcPct val="112000"/>
              </a:lnSpc>
              <a:buNone/>
              <a:defRPr sz="2325" b="0">
                <a:solidFill>
                  <a:srgbClr val="5B5F65"/>
                </a:solidFill>
                <a:latin typeface="Libre Franklin"/>
                <a:ea typeface="Libre Franklin"/>
                <a:cs typeface="Libre Franklin"/>
              </a:defRPr>
            </a:pPr>
            <a:r>
              <a:rPr sz="2325" b="0">
                <a:solidFill>
                  <a:srgbClr val="5B5F65"/>
                </a:solidFill>
                <a:latin typeface="Libre Franklin"/>
                <a:ea typeface="Libre Franklin"/>
                <a:cs typeface="Libre Franklin"/>
              </a:rPr>
              <a:t>The rate can change while</a:t>
            </a:r>
          </a:p>
          <a:p xmlns:a="http://schemas.openxmlformats.org/drawingml/2006/main">
            <a:pPr algn="l">
              <a:lnSpc>
                <a:spcPct val="112000"/>
              </a:lnSpc>
              <a:buNone/>
              <a:defRPr sz="2325" b="0">
                <a:solidFill>
                  <a:srgbClr val="5B5F65"/>
                </a:solidFill>
                <a:latin typeface="Libre Franklin"/>
                <a:ea typeface="Libre Franklin"/>
                <a:cs typeface="Libre Franklin"/>
              </a:defRPr>
            </a:pPr>
            <a:r>
              <a:rPr sz="2325" b="0">
                <a:solidFill>
                  <a:srgbClr val="5B5F65"/>
                </a:solidFill>
                <a:latin typeface="Libre Franklin"/>
                <a:ea typeface="Libre Franklin"/>
                <a:cs typeface="Libre Franklin"/>
              </a:rPr>
              <a:t>the position stays open.</a:t>
            </a:r>
          </a:p>
        </p:txBody>
      </p:sp>
      <p:sp>
        <p:nvSpPr>
          <p:cNvPr id="6" name="The interest budget remains uncertai">
            <a:extLst xmlns:a="http://schemas.openxmlformats.org/drawingml/2006/main">
              <a:ext uri="{FF2B5EF4-FFF2-40B4-BE49-F238E27FC236}">
                <a16:creationId xmlns:a16="http://schemas.microsoft.com/office/drawing/2014/main" id="{C28D3212-7218-415C-A62F-D95FD5F98041}"/>
              </a:ext>
            </a:extLst>
          </p:cNvPr>
          <p:cNvSpPr>
            <a:spLocks xmlns:a="http://schemas.openxmlformats.org/drawingml/2006/main" noGrp="1"/>
          </p:cNvSpPr>
          <p:nvPr/>
        </p:nvSpPr>
        <p:spPr>
          <a:xfrm xmlns:a="http://schemas.openxmlformats.org/drawingml/2006/main">
            <a:off x="685800" y="4953000"/>
            <a:ext cx="990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B1220"/>
                </a:solidFill>
                <a:latin typeface="Libre Franklin"/>
                <a:ea typeface="Libre Franklin"/>
                <a:cs typeface="Libre Franklin"/>
              </a:defRPr>
            </a:defPPr>
          </a:lstStyle>
          <a:p xmlns:a="http://schemas.openxmlformats.org/drawingml/2006/main">
            <a:pPr algn="l">
              <a:lnSpc>
                <a:spcPct val="112000"/>
              </a:lnSpc>
              <a:buNone/>
              <a:defRPr sz="2550" b="1">
                <a:solidFill>
                  <a:srgbClr val="0B1220"/>
                </a:solidFill>
                <a:latin typeface="Libre Franklin"/>
                <a:ea typeface="Libre Franklin"/>
                <a:cs typeface="Libre Franklin"/>
              </a:defRPr>
            </a:pPr>
            <a:r>
              <a:rPr sz="2550" b="1">
                <a:solidFill>
                  <a:srgbClr val="0B1220"/>
                </a:solidFill>
                <a:latin typeface="Libre Franklin"/>
                <a:ea typeface="Libre Franklin"/>
                <a:cs typeface="Libre Franklin"/>
              </a:rPr>
              <a:t>The interest budget remains uncertain.</a:t>
            </a:r>
          </a:p>
        </p:txBody>
      </p:sp>
      <p:sp>
        <p:nvSpPr>
          <p:cNvPr id="7" name="Illustrative treasury situation. Rat">
            <a:extLst xmlns:a="http://schemas.openxmlformats.org/drawingml/2006/main">
              <a:ext uri="{FF2B5EF4-FFF2-40B4-BE49-F238E27FC236}">
                <a16:creationId xmlns:a16="http://schemas.microsoft.com/office/drawing/2014/main" id="{1481FACF-EB53-4BCE-9893-3AE3E1148351}"/>
              </a:ext>
            </a:extLst>
          </p:cNvPr>
          <p:cNvSpPr>
            <a:spLocks xmlns:a="http://schemas.openxmlformats.org/drawingml/2006/main" noGrp="1"/>
          </p:cNvSpPr>
          <p:nvPr/>
        </p:nvSpPr>
        <p:spPr>
          <a:xfrm xmlns:a="http://schemas.openxmlformats.org/drawingml/2006/main">
            <a:off x="2419350" y="6219825"/>
            <a:ext cx="871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5F65"/>
                </a:solidFill>
                <a:latin typeface="Libre Franklin"/>
                <a:ea typeface="Libre Franklin"/>
                <a:cs typeface="Libre Franklin"/>
              </a:defRPr>
            </a:defPPr>
          </a:lstStyle>
          <a:p xmlns:a="http://schemas.openxmlformats.org/drawingml/2006/main">
            <a:pPr algn="l">
              <a:lnSpc>
                <a:spcPct val="112000"/>
              </a:lnSpc>
              <a:buNone/>
              <a:defRPr sz="1350" b="0">
                <a:solidFill>
                  <a:srgbClr val="5B5F65"/>
                </a:solidFill>
                <a:latin typeface="Libre Franklin"/>
                <a:ea typeface="Libre Franklin"/>
                <a:cs typeface="Libre Franklin"/>
              </a:defRPr>
            </a:pPr>
            <a:r>
              <a:rPr sz="1350" b="0">
                <a:solidFill>
                  <a:srgbClr val="5B5F65"/>
                </a:solidFill>
                <a:latin typeface="Libre Franklin"/>
                <a:ea typeface="Libre Franklin"/>
                <a:cs typeface="Libre Franklin"/>
              </a:rPr>
              <a:t>Illustrative treasury situation. Rates can rise or fall.</a:t>
            </a:r>
          </a:p>
        </p:txBody>
      </p:sp>
    </p:spTree>
    <p:extLst>
      <p:ext uri="{BB962C8B-B14F-4D97-AF65-F5344CB8AC3E}">
        <p14:creationId xmlns:p14="http://schemas.microsoft.com/office/powerpoint/2010/main" val="1887869012"/>
      </p:ext>
    </p:extLst>
  </p:cSld>
</p:sld>
</file>

<file path=ppt/slides/slide3.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FEA1AFC-660E-4F49-94A7-6C1F05B78540}"/>
              </a:ext>
            </a:extLst>
          </p:cNvPr>
          <p:cNvPicPr>
            <a:picLocks xmlns:a="http://schemas.openxmlformats.org/drawingml/2006/main" noChangeAspect="1"/>
          </p:cNvPicPr>
          <p:nvPr/>
        </p:nvPicPr>
        <p:blipFill>
          <a:blip xmlns:r="http://schemas.openxmlformats.org/officeDocument/2006/relationships" xmlns:a="http://schemas.openxmlformats.org/drawingml/2006/main" r:embed="R0b548bf3bace4416"/>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82F5E67A-CC90-4AC8-B625-E181FB9A499C}"/>
              </a:ext>
            </a:extLst>
          </p:cNvPr>
          <p:cNvPicPr>
            <a:picLocks xmlns:a="http://schemas.openxmlformats.org/drawingml/2006/main" noChangeAspect="1"/>
          </p:cNvPicPr>
          <p:nvPr/>
        </p:nvPicPr>
        <p:blipFill>
          <a:blip xmlns:r="http://schemas.openxmlformats.org/officeDocument/2006/relationships" xmlns:a="http://schemas.openxmlformats.org/drawingml/2006/main" r:embed="R0b548bf3bace4416"/>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Rates can move">
            <a:extLst xmlns:a="http://schemas.openxmlformats.org/drawingml/2006/main">
              <a:ext uri="{FF2B5EF4-FFF2-40B4-BE49-F238E27FC236}">
                <a16:creationId xmlns:a16="http://schemas.microsoft.com/office/drawing/2014/main" id="{D9038DB3-73D2-4BDD-9669-7E4264522646}"/>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Rates can move</a:t>
            </a:r>
          </a:p>
        </p:txBody>
      </p:sp>
      <p:pic>
        <p:nvPicPr>
          <p:cNvPr id="9" name="">
            <a:extLst xmlns:a="http://schemas.openxmlformats.org/drawingml/2006/main">
              <a:ext uri="{FF2B5EF4-FFF2-40B4-BE49-F238E27FC236}">
                <a16:creationId xmlns:a16="http://schemas.microsoft.com/office/drawing/2014/main" id="{D348182E-23CB-4AC7-AF11-78837503B4FF}"/>
              </a:ext>
            </a:extLst>
          </p:cNvPr>
          <p:cNvPicPr>
            <a:picLocks xmlns:a="http://schemas.openxmlformats.org/drawingml/2006/main" noChangeAspect="1"/>
          </p:cNvPicPr>
          <p:nvPr/>
        </p:nvPicPr>
        <p:blipFill>
          <a:blip xmlns:r="http://schemas.openxmlformats.org/officeDocument/2006/relationships" xmlns:a="http://schemas.openxmlformats.org/drawingml/2006/main" r:embed="Rcbd116ce937346e7"/>
          <a:stretch xmlns:a="http://schemas.openxmlformats.org/drawingml/2006/main"/>
        </p:blipFill>
        <p:spPr>
          <a:xfrm xmlns:a="http://schemas.openxmlformats.org/drawingml/2006/main">
            <a:off x="1696811" y="1685925"/>
            <a:ext cx="8760279" cy="4972050"/>
          </a:xfrm>
          <a:prstGeom xmlns:a="http://schemas.openxmlformats.org/drawingml/2006/main" prst="rect">
            <a:avLst/>
          </a:prstGeom>
        </p:spPr>
      </p:pic>
    </p:spTree>
    <p:extLst>
      <p:ext uri="{BB962C8B-B14F-4D97-AF65-F5344CB8AC3E}">
        <p14:creationId xmlns:p14="http://schemas.microsoft.com/office/powerpoint/2010/main" val="641753779"/>
      </p:ext>
    </p:extLst>
  </p:cSld>
</p:sld>
</file>

<file path=ppt/slides/slide4.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7F32564-685E-453E-9388-FE621FDB1D38}"/>
              </a:ext>
            </a:extLst>
          </p:cNvPr>
          <p:cNvPicPr>
            <a:picLocks xmlns:a="http://schemas.openxmlformats.org/drawingml/2006/main" noChangeAspect="1"/>
          </p:cNvPicPr>
          <p:nvPr/>
        </p:nvPicPr>
        <p:blipFill>
          <a:blip xmlns:r="http://schemas.openxmlformats.org/officeDocument/2006/relationships" xmlns:a="http://schemas.openxmlformats.org/drawingml/2006/main" r:embed="Rbbc3627ac3ab4b3a"/>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30F11A5E-7BFD-4788-8F15-D9D25EB351FF}"/>
              </a:ext>
            </a:extLst>
          </p:cNvPr>
          <p:cNvPicPr>
            <a:picLocks xmlns:a="http://schemas.openxmlformats.org/drawingml/2006/main" noChangeAspect="1"/>
          </p:cNvPicPr>
          <p:nvPr/>
        </p:nvPicPr>
        <p:blipFill>
          <a:blip xmlns:r="http://schemas.openxmlformats.org/officeDocument/2006/relationships" xmlns:a="http://schemas.openxmlformats.org/drawingml/2006/main" r:embed="Rbbc3627ac3ab4b3a"/>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A fixed bill before settlement">
            <a:extLst xmlns:a="http://schemas.openxmlformats.org/drawingml/2006/main">
              <a:ext uri="{FF2B5EF4-FFF2-40B4-BE49-F238E27FC236}">
                <a16:creationId xmlns:a16="http://schemas.microsoft.com/office/drawing/2014/main" id="{6F2D571E-8FE5-4E15-91F0-F76407FF6B9F}"/>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A fixed bill before settlement</a:t>
            </a:r>
          </a:p>
        </p:txBody>
      </p:sp>
      <p:sp>
        <p:nvSpPr>
          <p:cNvPr id="4" name="1,000 USDCx-demo for 30 days">
            <a:extLst xmlns:a="http://schemas.openxmlformats.org/drawingml/2006/main">
              <a:ext uri="{FF2B5EF4-FFF2-40B4-BE49-F238E27FC236}">
                <a16:creationId xmlns:a16="http://schemas.microsoft.com/office/drawing/2014/main" id="{6C680BBC-E5FE-46A5-B41D-3F4F782240AC}"/>
              </a:ext>
            </a:extLst>
          </p:cNvPr>
          <p:cNvSpPr>
            <a:spLocks xmlns:a="http://schemas.openxmlformats.org/drawingml/2006/main" noGrp="1"/>
          </p:cNvSpPr>
          <p:nvPr/>
        </p:nvSpPr>
        <p:spPr>
          <a:xfrm xmlns:a="http://schemas.openxmlformats.org/drawingml/2006/main">
            <a:off x="685800" y="17145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B1220"/>
                </a:solidFill>
                <a:latin typeface="Marcellus"/>
                <a:ea typeface="Marcellus"/>
                <a:cs typeface="Marcellus"/>
              </a:defRPr>
            </a:defPPr>
          </a:lstStyle>
          <a:p xmlns:a="http://schemas.openxmlformats.org/drawingml/2006/main">
            <a:pPr algn="l">
              <a:lnSpc>
                <a:spcPct val="112000"/>
              </a:lnSpc>
              <a:buNone/>
              <a:defRPr sz="2700" b="0">
                <a:solidFill>
                  <a:srgbClr val="0B1220"/>
                </a:solidFill>
                <a:latin typeface="Marcellus"/>
                <a:ea typeface="Marcellus"/>
                <a:cs typeface="Marcellus"/>
              </a:defRPr>
            </a:pPr>
            <a:r>
              <a:rPr sz="2700" b="0">
                <a:solidFill>
                  <a:srgbClr val="0B1220"/>
                </a:solidFill>
                <a:latin typeface="Marcellus"/>
                <a:ea typeface="Marcellus"/>
                <a:cs typeface="Marcellus"/>
              </a:rPr>
              <a:t>1,000 USDCx-demo for 30 days</a:t>
            </a:r>
          </a:p>
        </p:txBody>
      </p:sp>
      <p:graphicFrame>
        <p:nvGraphicFramePr>
          <p:cNvPr id="5" name="">
            <a:extLst xmlns:a="http://schemas.openxmlformats.org/drawingml/2006/main">
              <a:ext uri="{FF2B5EF4-FFF2-40B4-BE49-F238E27FC236}">
                <a16:creationId xmlns:a16="http://schemas.microsoft.com/office/drawing/2014/main" id="{95DAAAF3-0D20-426F-8B8E-2F6439639C8F}"/>
              </a:ext>
            </a:extLst>
          </p:cNvPr>
          <p:cNvGraphicFramePr/>
          <p:nvPr/>
        </p:nvGraphicFramePr>
        <p:xfrm>
          <a:off xmlns:a="http://schemas.openxmlformats.org/drawingml/2006/main" x="685800" y="2724150"/>
          <a:ext xmlns:a="http://schemas.openxmlformats.org/drawingml/2006/main" cx="10620375" cy="2057400"/>
        </p:xfrm>
        <a:graphic xmlns:a="http://schemas.openxmlformats.org/drawingml/2006/main">
          <a:graphicData uri="http://schemas.openxmlformats.org/drawingml/2006/table">
            <a:tbl>
              <a:tblPr/>
              <a:tblGrid>
                <a:gridCol w="2571750"/>
                <a:gridCol w="2809875"/>
                <a:gridCol w="5238750"/>
              </a:tblGrid>
              <a:tr h="685800">
                <a:tc>
                  <a:txBody>
                    <a:bodyPr>
                      <a:noAutofit/>
                    </a:bodyPr>
                    <a:lstStyle/>
                    <a:p>
                      <a:r>
                        <a:rPr sz="1725" b="1">
                          <a:solidFill>
                            <a:srgbClr val="F4E9CE"/>
                          </a:solidFill>
                          <a:latin typeface="Libre Franklin"/>
                          <a:ea typeface="Libre Franklin"/>
                          <a:cs typeface="Libre Franklin"/>
                        </a:rPr>
                        <a:t>Lender offer</a:t>
                      </a:r>
                    </a:p>
                  </a:txBody>
                  <a:tcPr marL="171450" marR="171450" marT="123825" marB="123825" anchor="ctr" horzOverflow="wrap">
                    <a:solidFill>
                      <a:srgbClr val="0B1220"/>
                    </a:solidFill>
                  </a:tcPr>
                </a:tc>
                <a:tc>
                  <a:txBody>
                    <a:bodyPr>
                      <a:noAutofit/>
                    </a:bodyPr>
                    <a:lstStyle/>
                    <a:p>
                      <a:r>
                        <a:rPr sz="1725" b="1">
                          <a:solidFill>
                            <a:srgbClr val="F4E9CE"/>
                          </a:solidFill>
                          <a:latin typeface="Libre Franklin"/>
                          <a:ea typeface="Libre Franklin"/>
                          <a:cs typeface="Libre Franklin"/>
                        </a:rPr>
                        <a:t>Annualized APR</a:t>
                      </a:r>
                    </a:p>
                  </a:txBody>
                  <a:tcPr marL="171450" marR="171450" marT="123825" marB="123825" anchor="ctr" horzOverflow="wrap">
                    <a:solidFill>
                      <a:srgbClr val="0B1220"/>
                    </a:solidFill>
                  </a:tcPr>
                </a:tc>
                <a:tc>
                  <a:txBody>
                    <a:bodyPr>
                      <a:noAutofit/>
                    </a:bodyPr>
                    <a:lstStyle/>
                    <a:p>
                      <a:r>
                        <a:rPr sz="1725" b="1">
                          <a:solidFill>
                            <a:srgbClr val="F4E9CE"/>
                          </a:solidFill>
                          <a:latin typeface="Libre Franklin"/>
                          <a:ea typeface="Libre Franklin"/>
                          <a:cs typeface="Libre Franklin"/>
                        </a:rPr>
                        <a:t>Contractual repayment</a:t>
                      </a:r>
                    </a:p>
                  </a:txBody>
                  <a:tcPr marL="171450" marR="171450" marT="123825" marB="123825" anchor="ctr" horzOverflow="wrap">
                    <a:solidFill>
                      <a:srgbClr val="0B1220"/>
                    </a:solidFill>
                  </a:tcPr>
                </a:tc>
              </a:tr>
              <a:tr h="685800">
                <a:tc>
                  <a:txBody>
                    <a:bodyPr>
                      <a:noAutofit/>
                    </a:bodyPr>
                    <a:lstStyle/>
                    <a:p>
                      <a:r>
                        <a:rPr sz="2025" b="0">
                          <a:solidFill>
                            <a:srgbClr val="0B1220"/>
                          </a:solidFill>
                          <a:latin typeface="Libre Franklin"/>
                          <a:ea typeface="Libre Franklin"/>
                          <a:cs typeface="Libre Franklin"/>
                        </a:rPr>
                        <a:t>Lender A</a:t>
                      </a:r>
                    </a:p>
                  </a:txBody>
                  <a:tcPr marL="171450" marR="171450" marT="123825" marB="123825" anchor="ctr" horzOverflow="wrap">
                    <a:solidFill>
                      <a:srgbClr val="EFE5CC"/>
                    </a:solidFill>
                  </a:tcPr>
                </a:tc>
                <a:tc>
                  <a:txBody>
                    <a:bodyPr>
                      <a:noAutofit/>
                    </a:bodyPr>
                    <a:lstStyle/>
                    <a:p>
                      <a:r>
                        <a:rPr sz="2025" b="0">
                          <a:solidFill>
                            <a:srgbClr val="0B1220"/>
                          </a:solidFill>
                          <a:latin typeface="Libre Franklin"/>
                          <a:ea typeface="Libre Franklin"/>
                          <a:cs typeface="Libre Franklin"/>
                        </a:rPr>
                        <a:t>5.20%</a:t>
                      </a:r>
                    </a:p>
                  </a:txBody>
                  <a:tcPr marL="171450" marR="171450" marT="123825" marB="123825" anchor="ctr" horzOverflow="wrap">
                    <a:solidFill>
                      <a:srgbClr val="EFE5CC"/>
                    </a:solidFill>
                  </a:tcPr>
                </a:tc>
                <a:tc>
                  <a:txBody>
                    <a:bodyPr>
                      <a:noAutofit/>
                    </a:bodyPr>
                    <a:lstStyle/>
                    <a:p>
                      <a:r>
                        <a:rPr sz="2025" b="0">
                          <a:solidFill>
                            <a:srgbClr val="0B1220"/>
                          </a:solidFill>
                          <a:latin typeface="Libre Franklin"/>
                          <a:ea typeface="Libre Franklin"/>
                          <a:cs typeface="Libre Franklin"/>
                        </a:rPr>
                        <a:t>1,004.33 USDCx-demo</a:t>
                      </a:r>
                    </a:p>
                  </a:txBody>
                  <a:tcPr marL="171450" marR="171450" marT="123825" marB="123825" anchor="ctr" horzOverflow="wrap">
                    <a:solidFill>
                      <a:srgbClr val="EFE5CC"/>
                    </a:solidFill>
                  </a:tcPr>
                </a:tc>
              </a:tr>
              <a:tr h="685800">
                <a:tc>
                  <a:txBody>
                    <a:bodyPr>
                      <a:noAutofit/>
                    </a:bodyPr>
                    <a:lstStyle/>
                    <a:p>
                      <a:r>
                        <a:rPr sz="2025" b="0">
                          <a:solidFill>
                            <a:srgbClr val="0B1220"/>
                          </a:solidFill>
                          <a:latin typeface="Libre Franklin"/>
                          <a:ea typeface="Libre Franklin"/>
                          <a:cs typeface="Libre Franklin"/>
                        </a:rPr>
                        <a:t>Lender B</a:t>
                      </a:r>
                    </a:p>
                  </a:txBody>
                  <a:tcPr marL="171450" marR="171450" marT="123825" marB="123825" anchor="ctr" horzOverflow="wrap">
                    <a:solidFill>
                      <a:srgbClr val="FAF7ED"/>
                    </a:solidFill>
                  </a:tcPr>
                </a:tc>
                <a:tc>
                  <a:txBody>
                    <a:bodyPr>
                      <a:noAutofit/>
                    </a:bodyPr>
                    <a:lstStyle/>
                    <a:p>
                      <a:r>
                        <a:rPr sz="2025" b="0">
                          <a:solidFill>
                            <a:srgbClr val="0B1220"/>
                          </a:solidFill>
                          <a:latin typeface="Libre Franklin"/>
                          <a:ea typeface="Libre Franklin"/>
                          <a:cs typeface="Libre Franklin"/>
                        </a:rPr>
                        <a:t>5.80%</a:t>
                      </a:r>
                    </a:p>
                  </a:txBody>
                  <a:tcPr marL="171450" marR="171450" marT="123825" marB="123825" anchor="ctr" horzOverflow="wrap">
                    <a:solidFill>
                      <a:srgbClr val="FAF7ED"/>
                    </a:solidFill>
                  </a:tcPr>
                </a:tc>
                <a:tc>
                  <a:txBody>
                    <a:bodyPr>
                      <a:noAutofit/>
                    </a:bodyPr>
                    <a:lstStyle/>
                    <a:p>
                      <a:r>
                        <a:rPr sz="2025" b="0">
                          <a:solidFill>
                            <a:srgbClr val="0B1220"/>
                          </a:solidFill>
                          <a:latin typeface="Libre Franklin"/>
                          <a:ea typeface="Libre Franklin"/>
                          <a:cs typeface="Libre Franklin"/>
                        </a:rPr>
                        <a:t>1,004.83 USDCx-demo</a:t>
                      </a:r>
                    </a:p>
                  </a:txBody>
                  <a:tcPr marL="171450" marR="171450" marT="123825" marB="123825" anchor="ctr" horzOverflow="wrap">
                    <a:solidFill>
                      <a:srgbClr val="FAF7ED"/>
                    </a:solidFill>
                  </a:tcPr>
                </a:tc>
              </a:tr>
            </a:tbl>
          </a:graphicData>
        </a:graphic>
      </p:graphicFrame>
      <p:sp>
        <p:nvSpPr>
          <p:cNvPr id="6" name="The borrower chooses the funded quot">
            <a:extLst xmlns:a="http://schemas.openxmlformats.org/drawingml/2006/main">
              <a:ext uri="{FF2B5EF4-FFF2-40B4-BE49-F238E27FC236}">
                <a16:creationId xmlns:a16="http://schemas.microsoft.com/office/drawing/2014/main" id="{EC57BB45-EAC9-483F-9770-1AB3FD421810}"/>
              </a:ext>
            </a:extLst>
          </p:cNvPr>
          <p:cNvSpPr>
            <a:spLocks xmlns:a="http://schemas.openxmlformats.org/drawingml/2006/main" noGrp="1"/>
          </p:cNvSpPr>
          <p:nvPr/>
        </p:nvSpPr>
        <p:spPr>
          <a:xfrm xmlns:a="http://schemas.openxmlformats.org/drawingml/2006/main">
            <a:off x="685800" y="515302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1220"/>
                </a:solidFill>
                <a:latin typeface="Libre Franklin"/>
                <a:ea typeface="Libre Franklin"/>
                <a:cs typeface="Libre Franklin"/>
              </a:defRPr>
            </a:defPPr>
          </a:lstStyle>
          <a:p xmlns:a="http://schemas.openxmlformats.org/drawingml/2006/main">
            <a:pPr algn="l">
              <a:lnSpc>
                <a:spcPct val="112000"/>
              </a:lnSpc>
              <a:buNone/>
              <a:defRPr sz="2325" b="1">
                <a:solidFill>
                  <a:srgbClr val="0B1220"/>
                </a:solidFill>
                <a:latin typeface="Libre Franklin"/>
                <a:ea typeface="Libre Franklin"/>
                <a:cs typeface="Libre Franklin"/>
              </a:defRPr>
            </a:pPr>
            <a:r>
              <a:rPr sz="2325" b="1">
                <a:solidFill>
                  <a:srgbClr val="0B1220"/>
                </a:solidFill>
                <a:latin typeface="Libre Franklin"/>
                <a:ea typeface="Libre Franklin"/>
                <a:cs typeface="Libre Franklin"/>
              </a:rPr>
              <a:t>The borrower chooses the funded quote.</a:t>
            </a:r>
          </a:p>
        </p:txBody>
      </p:sp>
      <p:sp>
        <p:nvSpPr>
          <p:cNvPr id="7" name="Illustrative quotes. Simple ACT/360 ">
            <a:extLst xmlns:a="http://schemas.openxmlformats.org/drawingml/2006/main">
              <a:ext uri="{FF2B5EF4-FFF2-40B4-BE49-F238E27FC236}">
                <a16:creationId xmlns:a16="http://schemas.microsoft.com/office/drawing/2014/main" id="{DD6CA0C4-7CD5-4E4E-8DC4-A0A483827759}"/>
              </a:ext>
            </a:extLst>
          </p:cNvPr>
          <p:cNvSpPr>
            <a:spLocks xmlns:a="http://schemas.openxmlformats.org/drawingml/2006/main" noGrp="1"/>
          </p:cNvSpPr>
          <p:nvPr/>
        </p:nvSpPr>
        <p:spPr>
          <a:xfrm xmlns:a="http://schemas.openxmlformats.org/drawingml/2006/main">
            <a:off x="2419350" y="6219825"/>
            <a:ext cx="871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5F65"/>
                </a:solidFill>
                <a:latin typeface="Libre Franklin"/>
                <a:ea typeface="Libre Franklin"/>
                <a:cs typeface="Libre Franklin"/>
              </a:defRPr>
            </a:defPPr>
          </a:lstStyle>
          <a:p xmlns:a="http://schemas.openxmlformats.org/drawingml/2006/main">
            <a:pPr algn="l">
              <a:lnSpc>
                <a:spcPct val="112000"/>
              </a:lnSpc>
              <a:buNone/>
              <a:defRPr sz="1350" b="0">
                <a:solidFill>
                  <a:srgbClr val="5B5F65"/>
                </a:solidFill>
                <a:latin typeface="Libre Franklin"/>
                <a:ea typeface="Libre Franklin"/>
                <a:cs typeface="Libre Franklin"/>
              </a:defRPr>
            </a:pPr>
            <a:r>
              <a:rPr sz="1350" b="0">
                <a:solidFill>
                  <a:srgbClr val="5B5F65"/>
                </a:solidFill>
                <a:latin typeface="Libre Franklin"/>
                <a:ea typeface="Libre Franklin"/>
                <a:cs typeface="Libre Franklin"/>
              </a:rPr>
              <a:t>Illustrative quotes. Simple ACT/360 interest, rounded to two decimals. Fees are separate.</a:t>
            </a:r>
          </a:p>
        </p:txBody>
      </p:sp>
    </p:spTree>
    <p:extLst>
      <p:ext uri="{BB962C8B-B14F-4D97-AF65-F5344CB8AC3E}">
        <p14:creationId xmlns:p14="http://schemas.microsoft.com/office/powerpoint/2010/main" val="2105519702"/>
      </p:ext>
    </p:extLst>
  </p:cSld>
</p:sld>
</file>

<file path=ppt/slides/slide5.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24E5D01-51E7-4E0A-BFCD-F7911D52DDE3}"/>
              </a:ext>
            </a:extLst>
          </p:cNvPr>
          <p:cNvPicPr>
            <a:picLocks xmlns:a="http://schemas.openxmlformats.org/drawingml/2006/main" noChangeAspect="1"/>
          </p:cNvPicPr>
          <p:nvPr/>
        </p:nvPicPr>
        <p:blipFill>
          <a:blip xmlns:r="http://schemas.openxmlformats.org/officeDocument/2006/relationships" xmlns:a="http://schemas.openxmlformats.org/drawingml/2006/main" r:embed="Rb274603945d343fc"/>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9E7E660-AF97-40E7-AAC3-A57DE3609AE3}"/>
              </a:ext>
            </a:extLst>
          </p:cNvPr>
          <p:cNvPicPr>
            <a:picLocks xmlns:a="http://schemas.openxmlformats.org/drawingml/2006/main" noChangeAspect="1"/>
          </p:cNvPicPr>
          <p:nvPr/>
        </p:nvPicPr>
        <p:blipFill>
          <a:blip xmlns:r="http://schemas.openxmlformats.org/officeDocument/2006/relationships" xmlns:a="http://schemas.openxmlformats.org/drawingml/2006/main" r:embed="Rb274603945d343fc"/>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Why Canton">
            <a:extLst xmlns:a="http://schemas.openxmlformats.org/drawingml/2006/main">
              <a:ext uri="{FF2B5EF4-FFF2-40B4-BE49-F238E27FC236}">
                <a16:creationId xmlns:a16="http://schemas.microsoft.com/office/drawing/2014/main" id="{29BCEF05-DCC5-4A44-8D87-45FA0A444B51}"/>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Why Canton</a:t>
            </a:r>
          </a:p>
        </p:txBody>
      </p:sp>
      <p:sp>
        <p:nvSpPr>
          <p:cNvPr id="4" name="One agreement governs&#10;cash against c">
            <a:extLst xmlns:a="http://schemas.openxmlformats.org/drawingml/2006/main">
              <a:ext uri="{FF2B5EF4-FFF2-40B4-BE49-F238E27FC236}">
                <a16:creationId xmlns:a16="http://schemas.microsoft.com/office/drawing/2014/main" id="{B8990049-D682-468E-B785-5B51887506F0}"/>
              </a:ext>
            </a:extLst>
          </p:cNvPr>
          <p:cNvSpPr>
            <a:spLocks xmlns:a="http://schemas.openxmlformats.org/drawingml/2006/main" noGrp="1"/>
          </p:cNvSpPr>
          <p:nvPr/>
        </p:nvSpPr>
        <p:spPr>
          <a:xfrm xmlns:a="http://schemas.openxmlformats.org/drawingml/2006/main">
            <a:off x="685800" y="1724025"/>
            <a:ext cx="8572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0B1220"/>
                </a:solidFill>
                <a:latin typeface="Marcellus"/>
                <a:ea typeface="Marcellus"/>
                <a:cs typeface="Marcellus"/>
              </a:defRPr>
            </a:defPPr>
          </a:lstStyle>
          <a:p xmlns:a="http://schemas.openxmlformats.org/drawingml/2006/main">
            <a:pPr algn="l">
              <a:lnSpc>
                <a:spcPct val="112000"/>
              </a:lnSpc>
              <a:buNone/>
              <a:defRPr sz="2925" b="0">
                <a:solidFill>
                  <a:srgbClr val="0B1220"/>
                </a:solidFill>
                <a:latin typeface="Marcellus"/>
                <a:ea typeface="Marcellus"/>
                <a:cs typeface="Marcellus"/>
              </a:defRPr>
            </a:pPr>
            <a:r>
              <a:rPr sz="2925" b="0">
                <a:solidFill>
                  <a:srgbClr val="0B1220"/>
                </a:solidFill>
                <a:latin typeface="Marcellus"/>
                <a:ea typeface="Marcellus"/>
                <a:cs typeface="Marcellus"/>
              </a:rPr>
              <a:t>One agreement governs</a:t>
            </a:r>
          </a:p>
          <a:p xmlns:a="http://schemas.openxmlformats.org/drawingml/2006/main">
            <a:pPr algn="l">
              <a:lnSpc>
                <a:spcPct val="112000"/>
              </a:lnSpc>
              <a:buNone/>
              <a:defRPr sz="2925" b="0">
                <a:solidFill>
                  <a:srgbClr val="0B1220"/>
                </a:solidFill>
                <a:latin typeface="Marcellus"/>
                <a:ea typeface="Marcellus"/>
                <a:cs typeface="Marcellus"/>
              </a:defRPr>
            </a:pPr>
            <a:r>
              <a:rPr sz="2925" b="0">
                <a:solidFill>
                  <a:srgbClr val="0B1220"/>
                </a:solidFill>
                <a:latin typeface="Marcellus"/>
                <a:ea typeface="Marcellus"/>
                <a:cs typeface="Marcellus"/>
              </a:rPr>
              <a:t>cash against collateral</a:t>
            </a:r>
          </a:p>
        </p:txBody>
      </p:sp>
      <p:graphicFrame>
        <p:nvGraphicFramePr>
          <p:cNvPr id="5" name="">
            <a:extLst xmlns:a="http://schemas.openxmlformats.org/drawingml/2006/main">
              <a:ext uri="{FF2B5EF4-FFF2-40B4-BE49-F238E27FC236}">
                <a16:creationId xmlns:a16="http://schemas.microsoft.com/office/drawing/2014/main" id="{7B9C28B8-67D7-4783-9958-51F1B552DF85}"/>
              </a:ext>
            </a:extLst>
          </p:cNvPr>
          <p:cNvGraphicFramePr/>
          <p:nvPr/>
        </p:nvGraphicFramePr>
        <p:xfrm>
          <a:off xmlns:a="http://schemas.openxmlformats.org/drawingml/2006/main" x="685800" y="3133725"/>
          <a:ext xmlns:a="http://schemas.openxmlformats.org/drawingml/2006/main" cx="10620375" cy="2219325"/>
        </p:xfrm>
        <a:graphic xmlns:a="http://schemas.openxmlformats.org/drawingml/2006/main">
          <a:graphicData uri="http://schemas.openxmlformats.org/drawingml/2006/table">
            <a:tbl>
              <a:tblPr/>
              <a:tblGrid>
                <a:gridCol w="3810000"/>
                <a:gridCol w="6810375"/>
              </a:tblGrid>
              <a:tr h="554831">
                <a:tc>
                  <a:txBody>
                    <a:bodyPr>
                      <a:noAutofit/>
                    </a:bodyPr>
                    <a:lstStyle/>
                    <a:p>
                      <a:r>
                        <a:rPr sz="1725" b="1">
                          <a:solidFill>
                            <a:srgbClr val="F4E9CE"/>
                          </a:solidFill>
                          <a:latin typeface="Libre Franklin"/>
                          <a:ea typeface="Libre Franklin"/>
                          <a:cs typeface="Libre Franklin"/>
                        </a:rPr>
                        <a:t>Record</a:t>
                      </a:r>
                    </a:p>
                  </a:txBody>
                  <a:tcPr marL="171450" marR="171450" marT="123825" marB="123825" anchor="ctr" horzOverflow="wrap">
                    <a:solidFill>
                      <a:srgbClr val="0B1220"/>
                    </a:solidFill>
                  </a:tcPr>
                </a:tc>
                <a:tc>
                  <a:txBody>
                    <a:bodyPr>
                      <a:noAutofit/>
                    </a:bodyPr>
                    <a:lstStyle/>
                    <a:p>
                      <a:r>
                        <a:rPr sz="1725" b="1">
                          <a:solidFill>
                            <a:srgbClr val="F4E9CE"/>
                          </a:solidFill>
                          <a:latin typeface="Libre Franklin"/>
                          <a:ea typeface="Libre Franklin"/>
                          <a:cs typeface="Libre Franklin"/>
                        </a:rPr>
                        <a:t>Who can see it</a:t>
                      </a:r>
                    </a:p>
                  </a:txBody>
                  <a:tcPr marL="171450" marR="171450" marT="123825" marB="123825" anchor="ctr" horzOverflow="wrap">
                    <a:solidFill>
                      <a:srgbClr val="0B1220"/>
                    </a:solidFill>
                  </a:tcPr>
                </a:tc>
              </a:tr>
              <a:tr h="554831">
                <a:tc>
                  <a:txBody>
                    <a:bodyPr>
                      <a:noAutofit/>
                    </a:bodyPr>
                    <a:lstStyle/>
                    <a:p>
                      <a:r>
                        <a:rPr sz="1950" b="0">
                          <a:solidFill>
                            <a:srgbClr val="0B1220"/>
                          </a:solidFill>
                          <a:latin typeface="Libre Franklin"/>
                          <a:ea typeface="Libre Franklin"/>
                          <a:cs typeface="Libre Franklin"/>
                        </a:rPr>
                        <a:t>Open financing request</a:t>
                      </a:r>
                    </a:p>
                  </a:txBody>
                  <a:tcPr marL="171450" marR="171450" marT="123825" marB="123825" anchor="ctr" horzOverflow="wrap">
                    <a:solidFill>
                      <a:srgbClr val="EFE5CC"/>
                    </a:solidFill>
                  </a:tcPr>
                </a:tc>
                <a:tc>
                  <a:txBody>
                    <a:bodyPr>
                      <a:noAutofit/>
                    </a:bodyPr>
                    <a:lstStyle/>
                    <a:p>
                      <a:r>
                        <a:rPr sz="1950" b="0">
                          <a:solidFill>
                            <a:srgbClr val="0B1220"/>
                          </a:solidFill>
                          <a:latin typeface="Libre Franklin"/>
                          <a:ea typeface="Libre Franklin"/>
                          <a:cs typeface="Libre Franklin"/>
                        </a:rPr>
                        <a:t>Authenticated Symbolon users</a:t>
                      </a:r>
                    </a:p>
                  </a:txBody>
                  <a:tcPr marL="171450" marR="171450" marT="123825" marB="123825" anchor="ctr" horzOverflow="wrap">
                    <a:solidFill>
                      <a:srgbClr val="EFE5CC"/>
                    </a:solidFill>
                  </a:tcPr>
                </a:tc>
              </a:tr>
              <a:tr h="554831">
                <a:tc>
                  <a:txBody>
                    <a:bodyPr>
                      <a:noAutofit/>
                    </a:bodyPr>
                    <a:lstStyle/>
                    <a:p>
                      <a:r>
                        <a:rPr sz="1950" b="0">
                          <a:solidFill>
                            <a:srgbClr val="0B1220"/>
                          </a:solidFill>
                          <a:latin typeface="Libre Franklin"/>
                          <a:ea typeface="Libre Franklin"/>
                          <a:cs typeface="Libre Franklin"/>
                        </a:rPr>
                        <a:t>A lender’s quote</a:t>
                      </a:r>
                    </a:p>
                  </a:txBody>
                  <a:tcPr marL="171450" marR="171450" marT="123825" marB="123825" anchor="ctr" horzOverflow="wrap">
                    <a:solidFill>
                      <a:srgbClr val="FAF7ED"/>
                    </a:solidFill>
                  </a:tcPr>
                </a:tc>
                <a:tc>
                  <a:txBody>
                    <a:bodyPr>
                      <a:noAutofit/>
                    </a:bodyPr>
                    <a:lstStyle/>
                    <a:p>
                      <a:r>
                        <a:rPr sz="1950" b="0">
                          <a:solidFill>
                            <a:srgbClr val="0B1220"/>
                          </a:solidFill>
                          <a:latin typeface="Libre Franklin"/>
                          <a:ea typeface="Libre Franklin"/>
                          <a:cs typeface="Libre Franklin"/>
                        </a:rPr>
                        <a:t>That lender and the borrower</a:t>
                      </a:r>
                    </a:p>
                  </a:txBody>
                  <a:tcPr marL="171450" marR="171450" marT="123825" marB="123825" anchor="ctr" horzOverflow="wrap">
                    <a:solidFill>
                      <a:srgbClr val="FAF7ED"/>
                    </a:solidFill>
                  </a:tcPr>
                </a:tc>
              </a:tr>
              <a:tr h="554831">
                <a:tc>
                  <a:txBody>
                    <a:bodyPr>
                      <a:noAutofit/>
                    </a:bodyPr>
                    <a:lstStyle/>
                    <a:p>
                      <a:r>
                        <a:rPr sz="1950" b="0">
                          <a:solidFill>
                            <a:srgbClr val="0B1220"/>
                          </a:solidFill>
                          <a:latin typeface="Libre Franklin"/>
                          <a:ea typeface="Libre Franklin"/>
                          <a:cs typeface="Libre Franklin"/>
                        </a:rPr>
                        <a:t>Accepted position</a:t>
                      </a:r>
                    </a:p>
                  </a:txBody>
                  <a:tcPr marL="171450" marR="171450" marT="123825" marB="123825" anchor="ctr" horzOverflow="wrap">
                    <a:solidFill>
                      <a:srgbClr val="EFE5CC"/>
                    </a:solidFill>
                  </a:tcPr>
                </a:tc>
                <a:tc>
                  <a:txBody>
                    <a:bodyPr>
                      <a:noAutofit/>
                    </a:bodyPr>
                    <a:lstStyle/>
                    <a:p>
                      <a:r>
                        <a:rPr sz="1950" b="0">
                          <a:solidFill>
                            <a:srgbClr val="0B1220"/>
                          </a:solidFill>
                          <a:latin typeface="Libre Franklin"/>
                          <a:ea typeface="Libre Franklin"/>
                          <a:cs typeface="Libre Franklin"/>
                        </a:rPr>
                        <a:t>Borrower and winning lender</a:t>
                      </a:r>
                    </a:p>
                  </a:txBody>
                  <a:tcPr marL="171450" marR="171450" marT="123825" marB="123825" anchor="ctr" horzOverflow="wrap">
                    <a:solidFill>
                      <a:srgbClr val="EFE5CC"/>
                    </a:solidFill>
                  </a:tcPr>
                </a:tc>
              </a:tr>
            </a:tbl>
          </a:graphicData>
        </a:graphic>
      </p:graphicFrame>
      <p:sp>
        <p:nvSpPr>
          <p:cNvPr id="6" name="Issuers see their holdings and movem">
            <a:extLst xmlns:a="http://schemas.openxmlformats.org/drawingml/2006/main">
              <a:ext uri="{FF2B5EF4-FFF2-40B4-BE49-F238E27FC236}">
                <a16:creationId xmlns:a16="http://schemas.microsoft.com/office/drawing/2014/main" id="{1E25F533-54D6-4A5A-9B5F-6B3478BF9749}"/>
              </a:ext>
            </a:extLst>
          </p:cNvPr>
          <p:cNvSpPr>
            <a:spLocks xmlns:a="http://schemas.openxmlformats.org/drawingml/2006/main" noGrp="1"/>
          </p:cNvSpPr>
          <p:nvPr/>
        </p:nvSpPr>
        <p:spPr>
          <a:xfrm xmlns:a="http://schemas.openxmlformats.org/drawingml/2006/main">
            <a:off x="2419350" y="6219825"/>
            <a:ext cx="871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5F65"/>
                </a:solidFill>
                <a:latin typeface="Libre Franklin"/>
                <a:ea typeface="Libre Franklin"/>
                <a:cs typeface="Libre Franklin"/>
              </a:defRPr>
            </a:defPPr>
          </a:lstStyle>
          <a:p xmlns:a="http://schemas.openxmlformats.org/drawingml/2006/main">
            <a:pPr algn="l">
              <a:lnSpc>
                <a:spcPct val="112000"/>
              </a:lnSpc>
              <a:buNone/>
              <a:defRPr sz="1350" b="0">
                <a:solidFill>
                  <a:srgbClr val="5B5F65"/>
                </a:solidFill>
                <a:latin typeface="Libre Franklin"/>
                <a:ea typeface="Libre Franklin"/>
                <a:cs typeface="Libre Franklin"/>
              </a:defRPr>
            </a:pPr>
            <a:r>
              <a:rPr sz="1350" b="0">
                <a:solidFill>
                  <a:srgbClr val="5B5F65"/>
                </a:solidFill>
                <a:latin typeface="Libre Franklin"/>
                <a:ea typeface="Libre Franklin"/>
                <a:cs typeface="Libre Franklin"/>
              </a:rPr>
              <a:t>Issuers see their holdings and movements. Application and participant operators remain trust dependencies.</a:t>
            </a:r>
          </a:p>
        </p:txBody>
      </p:sp>
    </p:spTree>
    <p:extLst>
      <p:ext uri="{BB962C8B-B14F-4D97-AF65-F5344CB8AC3E}">
        <p14:creationId xmlns:p14="http://schemas.microsoft.com/office/powerpoint/2010/main" val="1665725296"/>
      </p:ext>
    </p:extLst>
  </p:cSld>
</p:sld>
</file>

<file path=ppt/slides/slide6.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E493C9E0-BE1A-4801-B1E2-3AE613CAD8D5}"/>
              </a:ext>
            </a:extLst>
          </p:cNvPr>
          <p:cNvCxnSpPr>
            <a:stCxn xmlns:a="http://schemas.openxmlformats.org/drawingml/2006/main" id="10" idx="2"/>
            <a:endCxn xmlns:a="http://schemas.openxmlformats.org/drawingml/2006/main" id="13" idx="0"/>
          </p:cNvCxnSpPr>
          <p:nvPr/>
        </p:nvCxnSpPr>
        <p:spPr>
          <a:xfrm xmlns:a="http://schemas.openxmlformats.org/drawingml/2006/main">
            <a:off x="2709863" y="4467225"/>
            <a:ext cx="0" cy="219075"/>
          </a:xfrm>
          <a:prstGeom xmlns:a="http://schemas.openxmlformats.org/drawingml/2006/main" prst="straightConnector1">
            <a:avLst/>
          </a:prstGeom>
          <a:ln xmlns:a="http://schemas.openxmlformats.org/drawingml/2006/main" w="19050">
            <a:solidFill>
              <a:srgbClr val="8A6810"/>
            </a:solidFill>
            <a:tailEnd type="arrow" w="med" len="med"/>
          </a:ln>
        </p:spPr>
      </p:cxnSp>
      <p:cxnSp>
        <p:nvCxnSpPr>
          <p:cNvPr id="17" name="">
            <a:extLst xmlns:a="http://schemas.openxmlformats.org/drawingml/2006/main">
              <a:ext uri="{FF2B5EF4-FFF2-40B4-BE49-F238E27FC236}">
                <a16:creationId xmlns:a16="http://schemas.microsoft.com/office/drawing/2014/main" id="{4675ABE6-F84E-454A-85EC-3C76A44F21E4}"/>
              </a:ext>
            </a:extLst>
          </p:cNvPr>
          <p:cNvCxnSpPr>
            <a:stCxn xmlns:a="http://schemas.openxmlformats.org/drawingml/2006/main" id="7" idx="2"/>
            <a:endCxn xmlns:a="http://schemas.openxmlformats.org/drawingml/2006/main" id="10" idx="0"/>
          </p:cNvCxnSpPr>
          <p:nvPr/>
        </p:nvCxnSpPr>
        <p:spPr>
          <a:xfrm xmlns:a="http://schemas.openxmlformats.org/drawingml/2006/main">
            <a:off x="2709863" y="3486150"/>
            <a:ext cx="0" cy="219075"/>
          </a:xfrm>
          <a:prstGeom xmlns:a="http://schemas.openxmlformats.org/drawingml/2006/main" prst="straightConnector1">
            <a:avLst/>
          </a:prstGeom>
          <a:ln xmlns:a="http://schemas.openxmlformats.org/drawingml/2006/main" w="19050">
            <a:solidFill>
              <a:srgbClr val="8A6810"/>
            </a:solidFill>
            <a:tailEnd type="arrow" w="med" len="med"/>
          </a:ln>
        </p:spPr>
      </p:cxnSp>
      <p:cxnSp>
        <p:nvCxnSpPr>
          <p:cNvPr id="16" name="">
            <a:extLst xmlns:a="http://schemas.openxmlformats.org/drawingml/2006/main">
              <a:ext uri="{FF2B5EF4-FFF2-40B4-BE49-F238E27FC236}">
                <a16:creationId xmlns:a16="http://schemas.microsoft.com/office/drawing/2014/main" id="{13A0231F-8560-465D-BE66-B67BBA054F40}"/>
              </a:ext>
            </a:extLst>
          </p:cNvPr>
          <p:cNvCxnSpPr>
            <a:stCxn xmlns:a="http://schemas.openxmlformats.org/drawingml/2006/main" id="4" idx="2"/>
            <a:endCxn xmlns:a="http://schemas.openxmlformats.org/drawingml/2006/main" id="7" idx="0"/>
          </p:cNvCxnSpPr>
          <p:nvPr/>
        </p:nvCxnSpPr>
        <p:spPr>
          <a:xfrm xmlns:a="http://schemas.openxmlformats.org/drawingml/2006/main">
            <a:off x="2709863" y="2505075"/>
            <a:ext cx="0" cy="219075"/>
          </a:xfrm>
          <a:prstGeom xmlns:a="http://schemas.openxmlformats.org/drawingml/2006/main" prst="straightConnector1">
            <a:avLst/>
          </a:prstGeom>
          <a:ln xmlns:a="http://schemas.openxmlformats.org/drawingml/2006/main" w="19050">
            <a:solidFill>
              <a:srgbClr val="8A6810"/>
            </a:solidFill>
            <a:tailEnd type="arrow" w="med" len="med"/>
          </a:ln>
        </p:spPr>
      </p:cxnSp>
      <p:pic>
        <p:nvPicPr>
          <p:cNvPr id="21" name="">
            <a:extLst xmlns:a="http://schemas.openxmlformats.org/drawingml/2006/main">
              <a:ext uri="{FF2B5EF4-FFF2-40B4-BE49-F238E27FC236}">
                <a16:creationId xmlns:a16="http://schemas.microsoft.com/office/drawing/2014/main" id="{3D0169B9-1508-4BC8-9E01-D34B7373A443}"/>
              </a:ext>
            </a:extLst>
          </p:cNvPr>
          <p:cNvPicPr>
            <a:picLocks xmlns:a="http://schemas.openxmlformats.org/drawingml/2006/main" noChangeAspect="1"/>
          </p:cNvPicPr>
          <p:nvPr/>
        </p:nvPicPr>
        <p:blipFill>
          <a:blip xmlns:r="http://schemas.openxmlformats.org/officeDocument/2006/relationships" xmlns:a="http://schemas.openxmlformats.org/drawingml/2006/main" r:embed="R29eadba4475f4883"/>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5D0385D-4F58-4BD3-AC45-A388A858DB40}"/>
              </a:ext>
            </a:extLst>
          </p:cNvPr>
          <p:cNvPicPr>
            <a:picLocks xmlns:a="http://schemas.openxmlformats.org/drawingml/2006/main" noChangeAspect="1"/>
          </p:cNvPicPr>
          <p:nvPr/>
        </p:nvPicPr>
        <p:blipFill>
          <a:blip xmlns:r="http://schemas.openxmlformats.org/officeDocument/2006/relationships" xmlns:a="http://schemas.openxmlformats.org/drawingml/2006/main" r:embed="R29eadba4475f4883"/>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The financing flow">
            <a:extLst xmlns:a="http://schemas.openxmlformats.org/drawingml/2006/main">
              <a:ext uri="{FF2B5EF4-FFF2-40B4-BE49-F238E27FC236}">
                <a16:creationId xmlns:a16="http://schemas.microsoft.com/office/drawing/2014/main" id="{F3B0F22C-F034-4D26-A9E9-8C29BD3F2C9D}"/>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The financing flow</a:t>
            </a:r>
          </a:p>
        </p:txBody>
      </p:sp>
      <p:sp>
        <p:nvSpPr>
          <p:cNvPr id="4" name="">
            <a:extLst xmlns:a="http://schemas.openxmlformats.org/drawingml/2006/main">
              <a:ext uri="{FF2B5EF4-FFF2-40B4-BE49-F238E27FC236}">
                <a16:creationId xmlns:a16="http://schemas.microsoft.com/office/drawing/2014/main" id="{A98593F6-809A-4F02-BF6C-7734180C47F5}"/>
              </a:ext>
            </a:extLst>
          </p:cNvPr>
          <p:cNvSpPr>
            <a:spLocks xmlns:a="http://schemas.openxmlformats.org/drawingml/2006/main" noGrp="1"/>
          </p:cNvSpPr>
          <p:nvPr/>
        </p:nvSpPr>
        <p:spPr>
          <a:xfrm xmlns:a="http://schemas.openxmlformats.org/drawingml/2006/main">
            <a:off x="685800" y="1743075"/>
            <a:ext cx="4048125" cy="762000"/>
          </a:xfrm>
          <a:prstGeom xmlns:a="http://schemas.openxmlformats.org/drawingml/2006/main" prst="rect">
            <a:avLst/>
          </a:prstGeom>
          <a:solidFill xmlns:a="http://schemas.openxmlformats.org/drawingml/2006/main">
            <a:srgbClr val="EFE5CC"/>
          </a:solidFill>
          <a:ln xmlns:a="http://schemas.openxmlformats.org/drawingml/2006/main" w="9525">
            <a:solidFill>
              <a:srgbClr val="D6C9A9"/>
            </a:solidFill>
          </a:ln>
        </p:spPr>
      </p:sp>
      <p:sp>
        <p:nvSpPr>
          <p:cNvPr id="5" name="Publish">
            <a:extLst xmlns:a="http://schemas.openxmlformats.org/drawingml/2006/main">
              <a:ext uri="{FF2B5EF4-FFF2-40B4-BE49-F238E27FC236}">
                <a16:creationId xmlns:a16="http://schemas.microsoft.com/office/drawing/2014/main" id="{89260925-07FE-494E-BE1C-92EC71F60D75}"/>
              </a:ext>
            </a:extLst>
          </p:cNvPr>
          <p:cNvSpPr>
            <a:spLocks xmlns:a="http://schemas.openxmlformats.org/drawingml/2006/main" noGrp="1"/>
          </p:cNvSpPr>
          <p:nvPr/>
        </p:nvSpPr>
        <p:spPr>
          <a:xfrm xmlns:a="http://schemas.openxmlformats.org/drawingml/2006/main">
            <a:off x="895350" y="1838325"/>
            <a:ext cx="361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1220"/>
                </a:solidFill>
                <a:latin typeface="Libre Franklin"/>
                <a:ea typeface="Libre Franklin"/>
                <a:cs typeface="Libre Franklin"/>
              </a:defRPr>
            </a:defPPr>
          </a:lstStyle>
          <a:p xmlns:a="http://schemas.openxmlformats.org/drawingml/2006/main">
            <a:pPr algn="l">
              <a:lnSpc>
                <a:spcPct val="112000"/>
              </a:lnSpc>
              <a:buNone/>
              <a:defRPr sz="2100" b="1">
                <a:solidFill>
                  <a:srgbClr val="0B1220"/>
                </a:solidFill>
                <a:latin typeface="Libre Franklin"/>
                <a:ea typeface="Libre Franklin"/>
                <a:cs typeface="Libre Franklin"/>
              </a:defRPr>
            </a:pPr>
            <a:r>
              <a:rPr sz="2100" b="1">
                <a:solidFill>
                  <a:srgbClr val="0B1220"/>
                </a:solidFill>
                <a:latin typeface="Libre Franklin"/>
                <a:ea typeface="Libre Franklin"/>
                <a:cs typeface="Libre Franklin"/>
              </a:rPr>
              <a:t>Publish</a:t>
            </a:r>
          </a:p>
        </p:txBody>
      </p:sp>
      <p:sp>
        <p:nvSpPr>
          <p:cNvPr id="6" name="Borrower shares a request">
            <a:extLst xmlns:a="http://schemas.openxmlformats.org/drawingml/2006/main">
              <a:ext uri="{FF2B5EF4-FFF2-40B4-BE49-F238E27FC236}">
                <a16:creationId xmlns:a16="http://schemas.microsoft.com/office/drawing/2014/main" id="{96D40E9F-1C08-459E-8427-D968CCD2F6A1}"/>
              </a:ext>
            </a:extLst>
          </p:cNvPr>
          <p:cNvSpPr>
            <a:spLocks xmlns:a="http://schemas.openxmlformats.org/drawingml/2006/main" noGrp="1"/>
          </p:cNvSpPr>
          <p:nvPr/>
        </p:nvSpPr>
        <p:spPr>
          <a:xfrm xmlns:a="http://schemas.openxmlformats.org/drawingml/2006/main">
            <a:off x="895350" y="2190750"/>
            <a:ext cx="3619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5F65"/>
                </a:solidFill>
                <a:latin typeface="Libre Franklin"/>
                <a:ea typeface="Libre Franklin"/>
                <a:cs typeface="Libre Franklin"/>
              </a:defRPr>
            </a:defPPr>
          </a:lstStyle>
          <a:p xmlns:a="http://schemas.openxmlformats.org/drawingml/2006/main">
            <a:pPr algn="l">
              <a:lnSpc>
                <a:spcPct val="112000"/>
              </a:lnSpc>
              <a:buNone/>
              <a:defRPr sz="1725" b="0">
                <a:solidFill>
                  <a:srgbClr val="5B5F65"/>
                </a:solidFill>
                <a:latin typeface="Libre Franklin"/>
                <a:ea typeface="Libre Franklin"/>
                <a:cs typeface="Libre Franklin"/>
              </a:defRPr>
            </a:pPr>
            <a:r>
              <a:rPr sz="1725" b="0">
                <a:solidFill>
                  <a:srgbClr val="5B5F65"/>
                </a:solidFill>
                <a:latin typeface="Libre Franklin"/>
                <a:ea typeface="Libre Franklin"/>
                <a:cs typeface="Libre Franklin"/>
              </a:rPr>
              <a:t>Borrower shares a request</a:t>
            </a:r>
          </a:p>
        </p:txBody>
      </p:sp>
      <p:sp>
        <p:nvSpPr>
          <p:cNvPr id="7" name="">
            <a:extLst xmlns:a="http://schemas.openxmlformats.org/drawingml/2006/main">
              <a:ext uri="{FF2B5EF4-FFF2-40B4-BE49-F238E27FC236}">
                <a16:creationId xmlns:a16="http://schemas.microsoft.com/office/drawing/2014/main" id="{66A29EF1-61DF-4365-BE56-385B9721BE42}"/>
              </a:ext>
            </a:extLst>
          </p:cNvPr>
          <p:cNvSpPr>
            <a:spLocks xmlns:a="http://schemas.openxmlformats.org/drawingml/2006/main" noGrp="1"/>
          </p:cNvSpPr>
          <p:nvPr/>
        </p:nvSpPr>
        <p:spPr>
          <a:xfrm xmlns:a="http://schemas.openxmlformats.org/drawingml/2006/main">
            <a:off x="685800" y="2724150"/>
            <a:ext cx="4048125" cy="762000"/>
          </a:xfrm>
          <a:prstGeom xmlns:a="http://schemas.openxmlformats.org/drawingml/2006/main" prst="rect">
            <a:avLst/>
          </a:prstGeom>
          <a:solidFill xmlns:a="http://schemas.openxmlformats.org/drawingml/2006/main">
            <a:srgbClr val="EFE5CC"/>
          </a:solidFill>
          <a:ln xmlns:a="http://schemas.openxmlformats.org/drawingml/2006/main" w="9525">
            <a:solidFill>
              <a:srgbClr val="D6C9A9"/>
            </a:solidFill>
          </a:ln>
        </p:spPr>
      </p:sp>
      <p:sp>
        <p:nvSpPr>
          <p:cNvPr id="8" name="Quote">
            <a:extLst xmlns:a="http://schemas.openxmlformats.org/drawingml/2006/main">
              <a:ext uri="{FF2B5EF4-FFF2-40B4-BE49-F238E27FC236}">
                <a16:creationId xmlns:a16="http://schemas.microsoft.com/office/drawing/2014/main" id="{FE783165-14CA-4D64-B4A5-AA4E792FF49A}"/>
              </a:ext>
            </a:extLst>
          </p:cNvPr>
          <p:cNvSpPr>
            <a:spLocks xmlns:a="http://schemas.openxmlformats.org/drawingml/2006/main" noGrp="1"/>
          </p:cNvSpPr>
          <p:nvPr/>
        </p:nvSpPr>
        <p:spPr>
          <a:xfrm xmlns:a="http://schemas.openxmlformats.org/drawingml/2006/main">
            <a:off x="895350" y="2819400"/>
            <a:ext cx="361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1220"/>
                </a:solidFill>
                <a:latin typeface="Libre Franklin"/>
                <a:ea typeface="Libre Franklin"/>
                <a:cs typeface="Libre Franklin"/>
              </a:defRPr>
            </a:defPPr>
          </a:lstStyle>
          <a:p xmlns:a="http://schemas.openxmlformats.org/drawingml/2006/main">
            <a:pPr algn="l">
              <a:lnSpc>
                <a:spcPct val="112000"/>
              </a:lnSpc>
              <a:buNone/>
              <a:defRPr sz="2100" b="1">
                <a:solidFill>
                  <a:srgbClr val="0B1220"/>
                </a:solidFill>
                <a:latin typeface="Libre Franklin"/>
                <a:ea typeface="Libre Franklin"/>
                <a:cs typeface="Libre Franklin"/>
              </a:defRPr>
            </a:pPr>
            <a:r>
              <a:rPr sz="2100" b="1">
                <a:solidFill>
                  <a:srgbClr val="0B1220"/>
                </a:solidFill>
                <a:latin typeface="Libre Franklin"/>
                <a:ea typeface="Libre Franklin"/>
                <a:cs typeface="Libre Franklin"/>
              </a:rPr>
              <a:t>Quote</a:t>
            </a:r>
          </a:p>
        </p:txBody>
      </p:sp>
      <p:sp>
        <p:nvSpPr>
          <p:cNvPr id="9" name="Lender reserves quote cash">
            <a:extLst xmlns:a="http://schemas.openxmlformats.org/drawingml/2006/main">
              <a:ext uri="{FF2B5EF4-FFF2-40B4-BE49-F238E27FC236}">
                <a16:creationId xmlns:a16="http://schemas.microsoft.com/office/drawing/2014/main" id="{8E208033-D122-4C0D-9AFF-E1F949E8C851}"/>
              </a:ext>
            </a:extLst>
          </p:cNvPr>
          <p:cNvSpPr>
            <a:spLocks xmlns:a="http://schemas.openxmlformats.org/drawingml/2006/main" noGrp="1"/>
          </p:cNvSpPr>
          <p:nvPr/>
        </p:nvSpPr>
        <p:spPr>
          <a:xfrm xmlns:a="http://schemas.openxmlformats.org/drawingml/2006/main">
            <a:off x="895350" y="3171825"/>
            <a:ext cx="3619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5F65"/>
                </a:solidFill>
                <a:latin typeface="Libre Franklin"/>
                <a:ea typeface="Libre Franklin"/>
                <a:cs typeface="Libre Franklin"/>
              </a:defRPr>
            </a:defPPr>
          </a:lstStyle>
          <a:p xmlns:a="http://schemas.openxmlformats.org/drawingml/2006/main">
            <a:pPr algn="l">
              <a:lnSpc>
                <a:spcPct val="112000"/>
              </a:lnSpc>
              <a:buNone/>
              <a:defRPr sz="1725" b="0">
                <a:solidFill>
                  <a:srgbClr val="5B5F65"/>
                </a:solidFill>
                <a:latin typeface="Libre Franklin"/>
                <a:ea typeface="Libre Franklin"/>
                <a:cs typeface="Libre Franklin"/>
              </a:defRPr>
            </a:pPr>
            <a:r>
              <a:rPr sz="1725" b="0">
                <a:solidFill>
                  <a:srgbClr val="5B5F65"/>
                </a:solidFill>
                <a:latin typeface="Libre Franklin"/>
                <a:ea typeface="Libre Franklin"/>
                <a:cs typeface="Libre Franklin"/>
              </a:rPr>
              <a:t>Lender reserves quote cash</a:t>
            </a:r>
          </a:p>
        </p:txBody>
      </p:sp>
      <p:sp>
        <p:nvSpPr>
          <p:cNvPr id="10" name="">
            <a:extLst xmlns:a="http://schemas.openxmlformats.org/drawingml/2006/main">
              <a:ext uri="{FF2B5EF4-FFF2-40B4-BE49-F238E27FC236}">
                <a16:creationId xmlns:a16="http://schemas.microsoft.com/office/drawing/2014/main" id="{FBDF36E8-227C-4A9C-933E-98CEA4D08533}"/>
              </a:ext>
            </a:extLst>
          </p:cNvPr>
          <p:cNvSpPr>
            <a:spLocks xmlns:a="http://schemas.openxmlformats.org/drawingml/2006/main" noGrp="1"/>
          </p:cNvSpPr>
          <p:nvPr/>
        </p:nvSpPr>
        <p:spPr>
          <a:xfrm xmlns:a="http://schemas.openxmlformats.org/drawingml/2006/main">
            <a:off x="685800" y="3705225"/>
            <a:ext cx="4048125" cy="762000"/>
          </a:xfrm>
          <a:prstGeom xmlns:a="http://schemas.openxmlformats.org/drawingml/2006/main" prst="rect">
            <a:avLst/>
          </a:prstGeom>
          <a:solidFill xmlns:a="http://schemas.openxmlformats.org/drawingml/2006/main">
            <a:srgbClr val="0B1220"/>
          </a:solidFill>
          <a:ln xmlns:a="http://schemas.openxmlformats.org/drawingml/2006/main" w="9525">
            <a:solidFill>
              <a:srgbClr val="D6C9A9"/>
            </a:solidFill>
          </a:ln>
        </p:spPr>
      </p:sp>
      <p:sp>
        <p:nvSpPr>
          <p:cNvPr id="11" name="Accept">
            <a:extLst xmlns:a="http://schemas.openxmlformats.org/drawingml/2006/main">
              <a:ext uri="{FF2B5EF4-FFF2-40B4-BE49-F238E27FC236}">
                <a16:creationId xmlns:a16="http://schemas.microsoft.com/office/drawing/2014/main" id="{04EC40A7-113D-4F0D-A5E2-4C5485815520}"/>
              </a:ext>
            </a:extLst>
          </p:cNvPr>
          <p:cNvSpPr>
            <a:spLocks xmlns:a="http://schemas.openxmlformats.org/drawingml/2006/main" noGrp="1"/>
          </p:cNvSpPr>
          <p:nvPr/>
        </p:nvSpPr>
        <p:spPr>
          <a:xfrm xmlns:a="http://schemas.openxmlformats.org/drawingml/2006/main">
            <a:off x="895350" y="3800475"/>
            <a:ext cx="361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4E9CE"/>
                </a:solidFill>
                <a:latin typeface="Libre Franklin"/>
                <a:ea typeface="Libre Franklin"/>
                <a:cs typeface="Libre Franklin"/>
              </a:defRPr>
            </a:defPPr>
          </a:lstStyle>
          <a:p xmlns:a="http://schemas.openxmlformats.org/drawingml/2006/main">
            <a:pPr algn="l">
              <a:lnSpc>
                <a:spcPct val="112000"/>
              </a:lnSpc>
              <a:buNone/>
              <a:defRPr sz="2100" b="1">
                <a:solidFill>
                  <a:srgbClr val="F4E9CE"/>
                </a:solidFill>
                <a:latin typeface="Libre Franklin"/>
                <a:ea typeface="Libre Franklin"/>
                <a:cs typeface="Libre Franklin"/>
              </a:defRPr>
            </a:pPr>
            <a:r>
              <a:rPr sz="2100" b="1">
                <a:solidFill>
                  <a:srgbClr val="F4E9CE"/>
                </a:solidFill>
                <a:latin typeface="Libre Franklin"/>
                <a:ea typeface="Libre Franklin"/>
                <a:cs typeface="Libre Franklin"/>
              </a:rPr>
              <a:t>Accept</a:t>
            </a:r>
          </a:p>
        </p:txBody>
      </p:sp>
      <p:sp>
        <p:nvSpPr>
          <p:cNvPr id="12" name="Cash and collateral settle">
            <a:extLst xmlns:a="http://schemas.openxmlformats.org/drawingml/2006/main">
              <a:ext uri="{FF2B5EF4-FFF2-40B4-BE49-F238E27FC236}">
                <a16:creationId xmlns:a16="http://schemas.microsoft.com/office/drawing/2014/main" id="{000A836F-18DB-45C7-A45D-9B7C2CF70331}"/>
              </a:ext>
            </a:extLst>
          </p:cNvPr>
          <p:cNvSpPr>
            <a:spLocks xmlns:a="http://schemas.openxmlformats.org/drawingml/2006/main" noGrp="1"/>
          </p:cNvSpPr>
          <p:nvPr/>
        </p:nvSpPr>
        <p:spPr>
          <a:xfrm xmlns:a="http://schemas.openxmlformats.org/drawingml/2006/main">
            <a:off x="895350" y="4152900"/>
            <a:ext cx="3619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4E9CE"/>
                </a:solidFill>
                <a:latin typeface="Libre Franklin"/>
                <a:ea typeface="Libre Franklin"/>
                <a:cs typeface="Libre Franklin"/>
              </a:defRPr>
            </a:defPPr>
          </a:lstStyle>
          <a:p xmlns:a="http://schemas.openxmlformats.org/drawingml/2006/main">
            <a:pPr algn="l">
              <a:lnSpc>
                <a:spcPct val="112000"/>
              </a:lnSpc>
              <a:buNone/>
              <a:defRPr sz="1725" b="0">
                <a:solidFill>
                  <a:srgbClr val="F4E9CE"/>
                </a:solidFill>
                <a:latin typeface="Libre Franklin"/>
                <a:ea typeface="Libre Franklin"/>
                <a:cs typeface="Libre Franklin"/>
              </a:defRPr>
            </a:pPr>
            <a:r>
              <a:rPr sz="1725" b="0">
                <a:solidFill>
                  <a:srgbClr val="F4E9CE"/>
                </a:solidFill>
                <a:latin typeface="Libre Franklin"/>
                <a:ea typeface="Libre Franklin"/>
                <a:cs typeface="Libre Franklin"/>
              </a:rPr>
              <a:t>Cash and collateral settle</a:t>
            </a:r>
          </a:p>
        </p:txBody>
      </p:sp>
      <p:sp>
        <p:nvSpPr>
          <p:cNvPr id="13" name="">
            <a:extLst xmlns:a="http://schemas.openxmlformats.org/drawingml/2006/main">
              <a:ext uri="{FF2B5EF4-FFF2-40B4-BE49-F238E27FC236}">
                <a16:creationId xmlns:a16="http://schemas.microsoft.com/office/drawing/2014/main" id="{14620F0D-37D9-4BF7-BF6D-B98B1EE0F60B}"/>
              </a:ext>
            </a:extLst>
          </p:cNvPr>
          <p:cNvSpPr>
            <a:spLocks xmlns:a="http://schemas.openxmlformats.org/drawingml/2006/main" noGrp="1"/>
          </p:cNvSpPr>
          <p:nvPr/>
        </p:nvSpPr>
        <p:spPr>
          <a:xfrm xmlns:a="http://schemas.openxmlformats.org/drawingml/2006/main">
            <a:off x="685800" y="4686300"/>
            <a:ext cx="4048125" cy="762000"/>
          </a:xfrm>
          <a:prstGeom xmlns:a="http://schemas.openxmlformats.org/drawingml/2006/main" prst="rect">
            <a:avLst/>
          </a:prstGeom>
          <a:solidFill xmlns:a="http://schemas.openxmlformats.org/drawingml/2006/main">
            <a:srgbClr val="EFE5CC"/>
          </a:solidFill>
          <a:ln xmlns:a="http://schemas.openxmlformats.org/drawingml/2006/main" w="9525">
            <a:solidFill>
              <a:srgbClr val="D6C9A9"/>
            </a:solidFill>
          </a:ln>
        </p:spPr>
      </p:sp>
      <p:sp>
        <p:nvSpPr>
          <p:cNvPr id="14" name="Repay">
            <a:extLst xmlns:a="http://schemas.openxmlformats.org/drawingml/2006/main">
              <a:ext uri="{FF2B5EF4-FFF2-40B4-BE49-F238E27FC236}">
                <a16:creationId xmlns:a16="http://schemas.microsoft.com/office/drawing/2014/main" id="{068102A4-A771-429B-9E8D-41D25435671C}"/>
              </a:ext>
            </a:extLst>
          </p:cNvPr>
          <p:cNvSpPr>
            <a:spLocks xmlns:a="http://schemas.openxmlformats.org/drawingml/2006/main" noGrp="1"/>
          </p:cNvSpPr>
          <p:nvPr/>
        </p:nvSpPr>
        <p:spPr>
          <a:xfrm xmlns:a="http://schemas.openxmlformats.org/drawingml/2006/main">
            <a:off x="895350" y="4781550"/>
            <a:ext cx="3619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1220"/>
                </a:solidFill>
                <a:latin typeface="Libre Franklin"/>
                <a:ea typeface="Libre Franklin"/>
                <a:cs typeface="Libre Franklin"/>
              </a:defRPr>
            </a:defPPr>
          </a:lstStyle>
          <a:p xmlns:a="http://schemas.openxmlformats.org/drawingml/2006/main">
            <a:pPr algn="l">
              <a:lnSpc>
                <a:spcPct val="112000"/>
              </a:lnSpc>
              <a:buNone/>
              <a:defRPr sz="2100" b="1">
                <a:solidFill>
                  <a:srgbClr val="0B1220"/>
                </a:solidFill>
                <a:latin typeface="Libre Franklin"/>
                <a:ea typeface="Libre Franklin"/>
                <a:cs typeface="Libre Franklin"/>
              </a:defRPr>
            </a:pPr>
            <a:r>
              <a:rPr sz="2100" b="1">
                <a:solidFill>
                  <a:srgbClr val="0B1220"/>
                </a:solidFill>
                <a:latin typeface="Libre Franklin"/>
                <a:ea typeface="Libre Franklin"/>
                <a:cs typeface="Libre Franklin"/>
              </a:rPr>
              <a:t>Repay</a:t>
            </a:r>
          </a:p>
        </p:txBody>
      </p:sp>
      <p:sp>
        <p:nvSpPr>
          <p:cNvPr id="15" name="Collateral returns">
            <a:extLst xmlns:a="http://schemas.openxmlformats.org/drawingml/2006/main">
              <a:ext uri="{FF2B5EF4-FFF2-40B4-BE49-F238E27FC236}">
                <a16:creationId xmlns:a16="http://schemas.microsoft.com/office/drawing/2014/main" id="{3B72AD9D-326E-4C42-A203-521F8FF4A910}"/>
              </a:ext>
            </a:extLst>
          </p:cNvPr>
          <p:cNvSpPr>
            <a:spLocks xmlns:a="http://schemas.openxmlformats.org/drawingml/2006/main" noGrp="1"/>
          </p:cNvSpPr>
          <p:nvPr/>
        </p:nvSpPr>
        <p:spPr>
          <a:xfrm xmlns:a="http://schemas.openxmlformats.org/drawingml/2006/main">
            <a:off x="895350" y="5133975"/>
            <a:ext cx="3619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5F65"/>
                </a:solidFill>
                <a:latin typeface="Libre Franklin"/>
                <a:ea typeface="Libre Franklin"/>
                <a:cs typeface="Libre Franklin"/>
              </a:defRPr>
            </a:defPPr>
          </a:lstStyle>
          <a:p xmlns:a="http://schemas.openxmlformats.org/drawingml/2006/main">
            <a:pPr algn="l">
              <a:lnSpc>
                <a:spcPct val="112000"/>
              </a:lnSpc>
              <a:buNone/>
              <a:defRPr sz="1725" b="0">
                <a:solidFill>
                  <a:srgbClr val="5B5F65"/>
                </a:solidFill>
                <a:latin typeface="Libre Franklin"/>
                <a:ea typeface="Libre Franklin"/>
                <a:cs typeface="Libre Franklin"/>
              </a:defRPr>
            </a:pPr>
            <a:r>
              <a:rPr sz="1725" b="0">
                <a:solidFill>
                  <a:srgbClr val="5B5F65"/>
                </a:solidFill>
                <a:latin typeface="Libre Franklin"/>
                <a:ea typeface="Libre Franklin"/>
                <a:cs typeface="Libre Franklin"/>
              </a:rPr>
              <a:t>Collateral returns</a:t>
            </a:r>
          </a:p>
        </p:txBody>
      </p:sp>
      <p:pic>
        <p:nvPicPr>
          <p:cNvPr id="19" name="">
            <a:extLst xmlns:a="http://schemas.openxmlformats.org/drawingml/2006/main">
              <a:ext uri="{FF2B5EF4-FFF2-40B4-BE49-F238E27FC236}">
                <a16:creationId xmlns:a16="http://schemas.microsoft.com/office/drawing/2014/main" id="{F8339414-E1B2-407C-B09D-89F29DEBE247}"/>
              </a:ext>
            </a:extLst>
          </p:cNvPr>
          <p:cNvPicPr>
            <a:picLocks xmlns:a="http://schemas.openxmlformats.org/drawingml/2006/main" noChangeAspect="1"/>
          </p:cNvPicPr>
          <p:nvPr/>
        </p:nvPicPr>
        <p:blipFill>
          <a:blip xmlns:r="http://schemas.openxmlformats.org/officeDocument/2006/relationships" xmlns:a="http://schemas.openxmlformats.org/drawingml/2006/main" r:embed="R78d24ab6e21c4b42"/>
          <a:srcRect xmlns:a="http://schemas.openxmlformats.org/drawingml/2006/main" l="29234" t="17790" r="29234" b="18122"/>
          <a:stretch xmlns:a="http://schemas.openxmlformats.org/drawingml/2006/main"/>
        </p:blipFill>
        <p:spPr>
          <a:xfrm xmlns:a="http://schemas.openxmlformats.org/drawingml/2006/main">
            <a:off x="6191250" y="1743075"/>
            <a:ext cx="4524375" cy="4248150"/>
          </a:xfrm>
          <a:prstGeom xmlns:a="http://schemas.openxmlformats.org/drawingml/2006/main" prst="rect">
            <a:avLst/>
          </a:prstGeom>
        </p:spPr>
      </p:pic>
      <p:sp>
        <p:nvSpPr>
          <p:cNvPr id="20" name="Actual DevNet quote review. Quotes r">
            <a:extLst xmlns:a="http://schemas.openxmlformats.org/drawingml/2006/main">
              <a:ext uri="{FF2B5EF4-FFF2-40B4-BE49-F238E27FC236}">
                <a16:creationId xmlns:a16="http://schemas.microsoft.com/office/drawing/2014/main" id="{2FA52654-6DEB-4E60-82D0-C4ECD91411BA}"/>
              </a:ext>
            </a:extLst>
          </p:cNvPr>
          <p:cNvSpPr>
            <a:spLocks xmlns:a="http://schemas.openxmlformats.org/drawingml/2006/main" noGrp="1"/>
          </p:cNvSpPr>
          <p:nvPr/>
        </p:nvSpPr>
        <p:spPr>
          <a:xfrm xmlns:a="http://schemas.openxmlformats.org/drawingml/2006/main">
            <a:off x="2419350" y="6219825"/>
            <a:ext cx="871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5F65"/>
                </a:solidFill>
                <a:latin typeface="Libre Franklin"/>
                <a:ea typeface="Libre Franklin"/>
                <a:cs typeface="Libre Franklin"/>
              </a:defRPr>
            </a:defPPr>
          </a:lstStyle>
          <a:p xmlns:a="http://schemas.openxmlformats.org/drawingml/2006/main">
            <a:pPr algn="l">
              <a:lnSpc>
                <a:spcPct val="112000"/>
              </a:lnSpc>
              <a:buNone/>
              <a:defRPr sz="1350" b="0">
                <a:solidFill>
                  <a:srgbClr val="5B5F65"/>
                </a:solidFill>
                <a:latin typeface="Libre Franklin"/>
                <a:ea typeface="Libre Franklin"/>
                <a:cs typeface="Libre Franklin"/>
              </a:defRPr>
            </a:pPr>
            <a:r>
              <a:rPr sz="1350" b="0">
                <a:solidFill>
                  <a:srgbClr val="5B5F65"/>
                </a:solidFill>
                <a:latin typeface="Libre Franklin"/>
                <a:ea typeface="Libre Franklin"/>
                <a:cs typeface="Libre Franklin"/>
              </a:rPr>
              <a:t>Actual DevNet quote review. Quotes require a distinct lender party.</a:t>
            </a:r>
          </a:p>
        </p:txBody>
      </p:sp>
    </p:spTree>
    <p:extLst>
      <p:ext uri="{BB962C8B-B14F-4D97-AF65-F5344CB8AC3E}">
        <p14:creationId xmlns:p14="http://schemas.microsoft.com/office/powerpoint/2010/main" val="1076897979"/>
      </p:ext>
    </p:extLst>
  </p:cSld>
</p:sld>
</file>

<file path=ppt/slides/slide7.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5B7D92C-5B3B-49D6-8B7E-0F83A46BCAF2}"/>
              </a:ext>
            </a:extLst>
          </p:cNvPr>
          <p:cNvPicPr>
            <a:picLocks xmlns:a="http://schemas.openxmlformats.org/drawingml/2006/main" noChangeAspect="1"/>
          </p:cNvPicPr>
          <p:nvPr/>
        </p:nvPicPr>
        <p:blipFill>
          <a:blip xmlns:r="http://schemas.openxmlformats.org/officeDocument/2006/relationships" xmlns:a="http://schemas.openxmlformats.org/drawingml/2006/main" r:embed="R2be3abf4f4aa4d81"/>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7BDC1F9-C9D6-4EDD-860D-0B84C561EB08}"/>
              </a:ext>
            </a:extLst>
          </p:cNvPr>
          <p:cNvPicPr>
            <a:picLocks xmlns:a="http://schemas.openxmlformats.org/drawingml/2006/main" noChangeAspect="1"/>
          </p:cNvPicPr>
          <p:nvPr/>
        </p:nvPicPr>
        <p:blipFill>
          <a:blip xmlns:r="http://schemas.openxmlformats.org/officeDocument/2006/relationships" xmlns:a="http://schemas.openxmlformats.org/drawingml/2006/main" r:embed="R2be3abf4f4aa4d81"/>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Collateral still needs attention">
            <a:extLst xmlns:a="http://schemas.openxmlformats.org/drawingml/2006/main">
              <a:ext uri="{FF2B5EF4-FFF2-40B4-BE49-F238E27FC236}">
                <a16:creationId xmlns:a16="http://schemas.microsoft.com/office/drawing/2014/main" id="{D6028E0F-DC03-42A9-BB68-BDB0E343B71F}"/>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Collateral still needs attention</a:t>
            </a:r>
          </a:p>
        </p:txBody>
      </p:sp>
      <p:graphicFrame>
        <p:nvGraphicFramePr>
          <p:cNvPr id="4" name="">
            <a:extLst xmlns:a="http://schemas.openxmlformats.org/drawingml/2006/main">
              <a:ext uri="{FF2B5EF4-FFF2-40B4-BE49-F238E27FC236}">
                <a16:creationId xmlns:a16="http://schemas.microsoft.com/office/drawing/2014/main" id="{070DF5AA-2F4F-4F94-BEBE-649C7C426567}"/>
              </a:ext>
            </a:extLst>
          </p:cNvPr>
          <p:cNvGraphicFramePr/>
          <p:nvPr/>
        </p:nvGraphicFramePr>
        <p:xfrm>
          <a:off xmlns:a="http://schemas.openxmlformats.org/drawingml/2006/main" x="685800" y="1838325"/>
          <a:ext xmlns:a="http://schemas.openxmlformats.org/drawingml/2006/main" cx="10620375" cy="2628900"/>
        </p:xfrm>
        <a:graphic xmlns:a="http://schemas.openxmlformats.org/drawingml/2006/main">
          <a:graphicData uri="http://schemas.openxmlformats.org/drawingml/2006/table">
            <a:tbl>
              <a:tblPr/>
              <a:tblGrid>
                <a:gridCol w="4429125"/>
                <a:gridCol w="3095625"/>
                <a:gridCol w="3095625"/>
              </a:tblGrid>
              <a:tr h="657225">
                <a:tc>
                  <a:txBody>
                    <a:bodyPr>
                      <a:noAutofit/>
                    </a:bodyPr>
                    <a:lstStyle/>
                    <a:p>
                      <a:r>
                        <a:rPr sz="1725" b="1">
                          <a:solidFill>
                            <a:srgbClr val="F4E9CE"/>
                          </a:solidFill>
                          <a:latin typeface="Libre Franklin"/>
                          <a:ea typeface="Libre Franklin"/>
                          <a:cs typeface="Libre Franklin"/>
                        </a:rPr>
                        <a:t>Illustrative position</a:t>
                      </a:r>
                    </a:p>
                  </a:txBody>
                  <a:tcPr marL="171450" marR="171450" marT="123825" marB="123825" anchor="ctr" horzOverflow="wrap">
                    <a:solidFill>
                      <a:srgbClr val="0B1220"/>
                    </a:solidFill>
                  </a:tcPr>
                </a:tc>
                <a:tc>
                  <a:txBody>
                    <a:bodyPr>
                      <a:noAutofit/>
                    </a:bodyPr>
                    <a:lstStyle/>
                    <a:p>
                      <a:r>
                        <a:rPr sz="1725" b="1">
                          <a:solidFill>
                            <a:srgbClr val="F4E9CE"/>
                          </a:solidFill>
                          <a:latin typeface="Libre Franklin"/>
                          <a:ea typeface="Libre Franklin"/>
                          <a:cs typeface="Libre Franklin"/>
                        </a:rPr>
                        <a:t>Collateral</a:t>
                      </a:r>
                    </a:p>
                  </a:txBody>
                  <a:tcPr marL="171450" marR="171450" marT="123825" marB="123825" anchor="ctr" horzOverflow="wrap">
                    <a:solidFill>
                      <a:srgbClr val="0B1220"/>
                    </a:solidFill>
                  </a:tcPr>
                </a:tc>
                <a:tc>
                  <a:txBody>
                    <a:bodyPr>
                      <a:noAutofit/>
                    </a:bodyPr>
                    <a:lstStyle/>
                    <a:p>
                      <a:r>
                        <a:rPr sz="1725" b="1">
                          <a:solidFill>
                            <a:srgbClr val="F4E9CE"/>
                          </a:solidFill>
                          <a:latin typeface="Libre Franklin"/>
                          <a:ea typeface="Libre Franklin"/>
                          <a:cs typeface="Libre Franklin"/>
                        </a:rPr>
                        <a:t>Health factor</a:t>
                      </a:r>
                    </a:p>
                  </a:txBody>
                  <a:tcPr marL="171450" marR="171450" marT="123825" marB="123825" anchor="ctr" horzOverflow="wrap">
                    <a:solidFill>
                      <a:srgbClr val="0B1220"/>
                    </a:solidFill>
                  </a:tcPr>
                </a:tc>
              </a:tr>
              <a:tr h="657225">
                <a:tc>
                  <a:txBody>
                    <a:bodyPr>
                      <a:noAutofit/>
                    </a:bodyPr>
                    <a:lstStyle/>
                    <a:p>
                      <a:r>
                        <a:rPr sz="2025" b="0">
                          <a:solidFill>
                            <a:srgbClr val="0B1220"/>
                          </a:solidFill>
                          <a:latin typeface="Libre Franklin"/>
                          <a:ea typeface="Libre Franklin"/>
                          <a:cs typeface="Libre Franklin"/>
                        </a:rPr>
                        <a:t>At a 60,000 mark</a:t>
                      </a:r>
                    </a:p>
                  </a:txBody>
                  <a:tcPr marL="171450" marR="171450" marT="123825" marB="123825" anchor="ctr" horzOverflow="wrap">
                    <a:solidFill>
                      <a:srgbClr val="EFE5CC"/>
                    </a:solidFill>
                  </a:tcPr>
                </a:tc>
                <a:tc>
                  <a:txBody>
                    <a:bodyPr>
                      <a:noAutofit/>
                    </a:bodyPr>
                    <a:lstStyle/>
                    <a:p>
                      <a:r>
                        <a:rPr sz="2025" b="0">
                          <a:solidFill>
                            <a:srgbClr val="0B1220"/>
                          </a:solidFill>
                          <a:latin typeface="Libre Franklin"/>
                          <a:ea typeface="Libre Franklin"/>
                          <a:cs typeface="Libre Franklin"/>
                        </a:rPr>
                        <a:t>0.0250 cBTC-demo</a:t>
                      </a:r>
                    </a:p>
                  </a:txBody>
                  <a:tcPr marL="171450" marR="171450" marT="123825" marB="123825" anchor="ctr" horzOverflow="wrap">
                    <a:solidFill>
                      <a:srgbClr val="EFE5CC"/>
                    </a:solidFill>
                  </a:tcPr>
                </a:tc>
                <a:tc>
                  <a:txBody>
                    <a:bodyPr>
                      <a:noAutofit/>
                    </a:bodyPr>
                    <a:lstStyle/>
                    <a:p>
                      <a:r>
                        <a:rPr sz="2025" b="0">
                          <a:solidFill>
                            <a:srgbClr val="0B1220"/>
                          </a:solidFill>
                          <a:latin typeface="Libre Franklin"/>
                          <a:ea typeface="Libre Franklin"/>
                          <a:cs typeface="Libre Franklin"/>
                        </a:rPr>
                        <a:t>1.43</a:t>
                      </a:r>
                    </a:p>
                  </a:txBody>
                  <a:tcPr marL="171450" marR="171450" marT="123825" marB="123825" anchor="ctr" horzOverflow="wrap">
                    <a:solidFill>
                      <a:srgbClr val="EFE5CC"/>
                    </a:solidFill>
                  </a:tcPr>
                </a:tc>
              </a:tr>
              <a:tr h="657225">
                <a:tc>
                  <a:txBody>
                    <a:bodyPr>
                      <a:noAutofit/>
                    </a:bodyPr>
                    <a:lstStyle/>
                    <a:p>
                      <a:r>
                        <a:rPr sz="2025" b="0">
                          <a:solidFill>
                            <a:srgbClr val="0B1220"/>
                          </a:solidFill>
                          <a:latin typeface="Libre Franklin"/>
                          <a:ea typeface="Libre Franklin"/>
                          <a:cs typeface="Libre Franklin"/>
                        </a:rPr>
                        <a:t>At a 36,000 mark</a:t>
                      </a:r>
                    </a:p>
                  </a:txBody>
                  <a:tcPr marL="171450" marR="171450" marT="123825" marB="123825" anchor="ctr" horzOverflow="wrap">
                    <a:solidFill>
                      <a:srgbClr val="FAF7ED"/>
                    </a:solidFill>
                  </a:tcPr>
                </a:tc>
                <a:tc>
                  <a:txBody>
                    <a:bodyPr>
                      <a:noAutofit/>
                    </a:bodyPr>
                    <a:lstStyle/>
                    <a:p>
                      <a:r>
                        <a:rPr sz="2025" b="0">
                          <a:solidFill>
                            <a:srgbClr val="0B1220"/>
                          </a:solidFill>
                          <a:latin typeface="Libre Franklin"/>
                          <a:ea typeface="Libre Franklin"/>
                          <a:cs typeface="Libre Franklin"/>
                        </a:rPr>
                        <a:t>0.0250 cBTC-demo</a:t>
                      </a:r>
                    </a:p>
                  </a:txBody>
                  <a:tcPr marL="171450" marR="171450" marT="123825" marB="123825" anchor="ctr" horzOverflow="wrap">
                    <a:solidFill>
                      <a:srgbClr val="FAF7ED"/>
                    </a:solidFill>
                  </a:tcPr>
                </a:tc>
                <a:tc>
                  <a:txBody>
                    <a:bodyPr>
                      <a:noAutofit/>
                    </a:bodyPr>
                    <a:lstStyle/>
                    <a:p>
                      <a:r>
                        <a:rPr sz="2025" b="0">
                          <a:solidFill>
                            <a:srgbClr val="0B1220"/>
                          </a:solidFill>
                          <a:latin typeface="Libre Franklin"/>
                          <a:ea typeface="Libre Franklin"/>
                          <a:cs typeface="Libre Franklin"/>
                        </a:rPr>
                        <a:t>0.86</a:t>
                      </a:r>
                    </a:p>
                  </a:txBody>
                  <a:tcPr marL="171450" marR="171450" marT="123825" marB="123825" anchor="ctr" horzOverflow="wrap">
                    <a:solidFill>
                      <a:srgbClr val="FAF7ED"/>
                    </a:solidFill>
                  </a:tcPr>
                </a:tc>
              </a:tr>
              <a:tr h="657225">
                <a:tc>
                  <a:txBody>
                    <a:bodyPr>
                      <a:noAutofit/>
                    </a:bodyPr>
                    <a:lstStyle/>
                    <a:p>
                      <a:r>
                        <a:rPr sz="2025" b="0">
                          <a:solidFill>
                            <a:srgbClr val="0B1220"/>
                          </a:solidFill>
                          <a:latin typeface="Libre Franklin"/>
                          <a:ea typeface="Libre Franklin"/>
                          <a:cs typeface="Libre Franklin"/>
                        </a:rPr>
                        <a:t>After a 0.0050 top-up</a:t>
                      </a:r>
                    </a:p>
                  </a:txBody>
                  <a:tcPr marL="171450" marR="171450" marT="123825" marB="123825" anchor="ctr" horzOverflow="wrap">
                    <a:solidFill>
                      <a:srgbClr val="EFE5CC"/>
                    </a:solidFill>
                  </a:tcPr>
                </a:tc>
                <a:tc>
                  <a:txBody>
                    <a:bodyPr>
                      <a:noAutofit/>
                    </a:bodyPr>
                    <a:lstStyle/>
                    <a:p>
                      <a:r>
                        <a:rPr sz="2025" b="0">
                          <a:solidFill>
                            <a:srgbClr val="0B1220"/>
                          </a:solidFill>
                          <a:latin typeface="Libre Franklin"/>
                          <a:ea typeface="Libre Franklin"/>
                          <a:cs typeface="Libre Franklin"/>
                        </a:rPr>
                        <a:t>0.0300 cBTC-demo</a:t>
                      </a:r>
                    </a:p>
                  </a:txBody>
                  <a:tcPr marL="171450" marR="171450" marT="123825" marB="123825" anchor="ctr" horzOverflow="wrap">
                    <a:solidFill>
                      <a:srgbClr val="EFE5CC"/>
                    </a:solidFill>
                  </a:tcPr>
                </a:tc>
                <a:tc>
                  <a:txBody>
                    <a:bodyPr>
                      <a:noAutofit/>
                    </a:bodyPr>
                    <a:lstStyle/>
                    <a:p>
                      <a:r>
                        <a:rPr sz="2025" b="0">
                          <a:solidFill>
                            <a:srgbClr val="0B1220"/>
                          </a:solidFill>
                          <a:latin typeface="Libre Franklin"/>
                          <a:ea typeface="Libre Franklin"/>
                          <a:cs typeface="Libre Franklin"/>
                        </a:rPr>
                        <a:t>1.03</a:t>
                      </a:r>
                    </a:p>
                  </a:txBody>
                  <a:tcPr marL="171450" marR="171450" marT="123825" marB="123825" anchor="ctr" horzOverflow="wrap">
                    <a:solidFill>
                      <a:srgbClr val="EFE5CC"/>
                    </a:solidFill>
                  </a:tcPr>
                </a:tc>
              </a:tr>
            </a:tbl>
          </a:graphicData>
        </a:graphic>
      </p:graphicFrame>
      <p:sp>
        <p:nvSpPr>
          <p:cNvPr id="5" name="Repayment stays at 1,004.33 USDCx-de">
            <a:extLst xmlns:a="http://schemas.openxmlformats.org/drawingml/2006/main">
              <a:ext uri="{FF2B5EF4-FFF2-40B4-BE49-F238E27FC236}">
                <a16:creationId xmlns:a16="http://schemas.microsoft.com/office/drawing/2014/main" id="{FA15531D-F598-4A68-B016-3A2E20F0832A}"/>
              </a:ext>
            </a:extLst>
          </p:cNvPr>
          <p:cNvSpPr>
            <a:spLocks xmlns:a="http://schemas.openxmlformats.org/drawingml/2006/main" noGrp="1"/>
          </p:cNvSpPr>
          <p:nvPr/>
        </p:nvSpPr>
        <p:spPr>
          <a:xfrm xmlns:a="http://schemas.openxmlformats.org/drawingml/2006/main">
            <a:off x="685800" y="4953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B1220"/>
                </a:solidFill>
                <a:latin typeface="Marcellus"/>
                <a:ea typeface="Marcellus"/>
                <a:cs typeface="Marcellus"/>
              </a:defRPr>
            </a:defPPr>
          </a:lstStyle>
          <a:p xmlns:a="http://schemas.openxmlformats.org/drawingml/2006/main">
            <a:pPr algn="l">
              <a:lnSpc>
                <a:spcPct val="112000"/>
              </a:lnSpc>
              <a:buNone/>
              <a:defRPr sz="2775" b="0">
                <a:solidFill>
                  <a:srgbClr val="0B1220"/>
                </a:solidFill>
                <a:latin typeface="Marcellus"/>
                <a:ea typeface="Marcellus"/>
                <a:cs typeface="Marcellus"/>
              </a:defRPr>
            </a:pPr>
            <a:r>
              <a:rPr sz="2775" b="0">
                <a:solidFill>
                  <a:srgbClr val="0B1220"/>
                </a:solidFill>
                <a:latin typeface="Marcellus"/>
                <a:ea typeface="Marcellus"/>
                <a:cs typeface="Marcellus"/>
              </a:rPr>
              <a:t>Repayment stays at 1,004.33 USDCx-demo</a:t>
            </a:r>
          </a:p>
        </p:txBody>
      </p:sp>
      <p:sp>
        <p:nvSpPr>
          <p:cNvPr id="6" name="1,000 principal and 105% maintenance">
            <a:extLst xmlns:a="http://schemas.openxmlformats.org/drawingml/2006/main">
              <a:ext uri="{FF2B5EF4-FFF2-40B4-BE49-F238E27FC236}">
                <a16:creationId xmlns:a16="http://schemas.microsoft.com/office/drawing/2014/main" id="{178B7977-C9F3-45CA-A31B-5E1165721EDC}"/>
              </a:ext>
            </a:extLst>
          </p:cNvPr>
          <p:cNvSpPr>
            <a:spLocks xmlns:a="http://schemas.openxmlformats.org/drawingml/2006/main" noGrp="1"/>
          </p:cNvSpPr>
          <p:nvPr/>
        </p:nvSpPr>
        <p:spPr>
          <a:xfrm xmlns:a="http://schemas.openxmlformats.org/drawingml/2006/main">
            <a:off x="2419350" y="6219825"/>
            <a:ext cx="871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5F65"/>
                </a:solidFill>
                <a:latin typeface="Libre Franklin"/>
                <a:ea typeface="Libre Franklin"/>
                <a:cs typeface="Libre Franklin"/>
              </a:defRPr>
            </a:defPPr>
          </a:lstStyle>
          <a:p xmlns:a="http://schemas.openxmlformats.org/drawingml/2006/main">
            <a:pPr algn="l">
              <a:lnSpc>
                <a:spcPct val="112000"/>
              </a:lnSpc>
              <a:buNone/>
              <a:defRPr sz="1350" b="0">
                <a:solidFill>
                  <a:srgbClr val="5B5F65"/>
                </a:solidFill>
                <a:latin typeface="Libre Franklin"/>
                <a:ea typeface="Libre Franklin"/>
                <a:cs typeface="Libre Franklin"/>
              </a:defRPr>
            </a:pPr>
            <a:r>
              <a:rPr sz="1350" b="0">
                <a:solidFill>
                  <a:srgbClr val="5B5F65"/>
                </a:solidFill>
                <a:latin typeface="Libre Franklin"/>
                <a:ea typeface="Libre Franklin"/>
                <a:cs typeface="Libre Franklin"/>
              </a:rPr>
              <a:t>1,000 principal and 105% maintenance cover. Simulated marks and assets. Early closure pays the full agreed amount.</a:t>
            </a:r>
          </a:p>
        </p:txBody>
      </p:sp>
    </p:spTree>
    <p:extLst>
      <p:ext uri="{BB962C8B-B14F-4D97-AF65-F5344CB8AC3E}">
        <p14:creationId xmlns:p14="http://schemas.microsoft.com/office/powerpoint/2010/main" val="1340104664"/>
      </p:ext>
    </p:extLst>
  </p:cSld>
</p:sld>
</file>

<file path=ppt/slides/slide8.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8CECA95-711E-449C-9602-F16A7FA22BFC}"/>
              </a:ext>
            </a:extLst>
          </p:cNvPr>
          <p:cNvPicPr>
            <a:picLocks xmlns:a="http://schemas.openxmlformats.org/drawingml/2006/main" noChangeAspect="1"/>
          </p:cNvPicPr>
          <p:nvPr/>
        </p:nvPicPr>
        <p:blipFill>
          <a:blip xmlns:r="http://schemas.openxmlformats.org/officeDocument/2006/relationships" xmlns:a="http://schemas.openxmlformats.org/drawingml/2006/main" r:embed="Re9f6f912fa194ef6"/>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679C4567-F3CB-4492-9F89-BAE39F4EA036}"/>
              </a:ext>
            </a:extLst>
          </p:cNvPr>
          <p:cNvPicPr>
            <a:picLocks xmlns:a="http://schemas.openxmlformats.org/drawingml/2006/main" noChangeAspect="1"/>
          </p:cNvPicPr>
          <p:nvPr/>
        </p:nvPicPr>
        <p:blipFill>
          <a:blip xmlns:r="http://schemas.openxmlformats.org/officeDocument/2006/relationships" xmlns:a="http://schemas.openxmlformats.org/drawingml/2006/main" r:embed="Re9f6f912fa194ef6"/>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What we have demonstrated">
            <a:extLst xmlns:a="http://schemas.openxmlformats.org/drawingml/2006/main">
              <a:ext uri="{FF2B5EF4-FFF2-40B4-BE49-F238E27FC236}">
                <a16:creationId xmlns:a16="http://schemas.microsoft.com/office/drawing/2014/main" id="{DDC3A7A4-E674-43B9-83A7-DF462A126077}"/>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What we have demonstrated</a:t>
            </a:r>
          </a:p>
        </p:txBody>
      </p:sp>
      <p:sp>
        <p:nvSpPr>
          <p:cNvPr id="4" name="Shared DevNet">
            <a:extLst xmlns:a="http://schemas.openxmlformats.org/drawingml/2006/main">
              <a:ext uri="{FF2B5EF4-FFF2-40B4-BE49-F238E27FC236}">
                <a16:creationId xmlns:a16="http://schemas.microsoft.com/office/drawing/2014/main" id="{D965222C-1261-456B-B47F-4FF6B9EE3417}"/>
              </a:ext>
            </a:extLst>
          </p:cNvPr>
          <p:cNvSpPr>
            <a:spLocks xmlns:a="http://schemas.openxmlformats.org/drawingml/2006/main" noGrp="1"/>
          </p:cNvSpPr>
          <p:nvPr/>
        </p:nvSpPr>
        <p:spPr>
          <a:xfrm xmlns:a="http://schemas.openxmlformats.org/drawingml/2006/main">
            <a:off x="685800" y="1790700"/>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0B1220"/>
                </a:solidFill>
                <a:latin typeface="Marcellus"/>
                <a:ea typeface="Marcellus"/>
                <a:cs typeface="Marcellus"/>
              </a:defRPr>
            </a:defPPr>
          </a:lstStyle>
          <a:p xmlns:a="http://schemas.openxmlformats.org/drawingml/2006/main">
            <a:pPr algn="l">
              <a:lnSpc>
                <a:spcPct val="112000"/>
              </a:lnSpc>
              <a:buNone/>
              <a:defRPr sz="2925" b="0">
                <a:solidFill>
                  <a:srgbClr val="0B1220"/>
                </a:solidFill>
                <a:latin typeface="Marcellus"/>
                <a:ea typeface="Marcellus"/>
                <a:cs typeface="Marcellus"/>
              </a:defRPr>
            </a:pPr>
            <a:r>
              <a:rPr sz="2925" b="0">
                <a:solidFill>
                  <a:srgbClr val="0B1220"/>
                </a:solidFill>
                <a:latin typeface="Marcellus"/>
                <a:ea typeface="Marcellus"/>
                <a:cs typeface="Marcellus"/>
              </a:rPr>
              <a:t>Shared DevNet</a:t>
            </a:r>
          </a:p>
        </p:txBody>
      </p:sp>
      <p:sp>
        <p:nvSpPr>
          <p:cNvPr id="5" name="Open request, funded quote, settleme">
            <a:extLst xmlns:a="http://schemas.openxmlformats.org/drawingml/2006/main">
              <a:ext uri="{FF2B5EF4-FFF2-40B4-BE49-F238E27FC236}">
                <a16:creationId xmlns:a16="http://schemas.microsoft.com/office/drawing/2014/main" id="{62F0ABF6-1CBF-4663-AB2A-CF45C3FDC908}"/>
              </a:ext>
            </a:extLst>
          </p:cNvPr>
          <p:cNvSpPr>
            <a:spLocks xmlns:a="http://schemas.openxmlformats.org/drawingml/2006/main" noGrp="1"/>
          </p:cNvSpPr>
          <p:nvPr/>
        </p:nvSpPr>
        <p:spPr>
          <a:xfrm xmlns:a="http://schemas.openxmlformats.org/drawingml/2006/main">
            <a:off x="685800" y="2590800"/>
            <a:ext cx="9715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1220"/>
                </a:solidFill>
                <a:latin typeface="Libre Franklin"/>
                <a:ea typeface="Libre Franklin"/>
                <a:cs typeface="Libre Franklin"/>
              </a:defRPr>
            </a:defPPr>
          </a:lstStyle>
          <a:p xmlns:a="http://schemas.openxmlformats.org/drawingml/2006/main">
            <a:pPr algn="l">
              <a:lnSpc>
                <a:spcPct val="112000"/>
              </a:lnSpc>
              <a:buNone/>
              <a:defRPr sz="2100" b="0">
                <a:solidFill>
                  <a:srgbClr val="0B1220"/>
                </a:solidFill>
                <a:latin typeface="Libre Franklin"/>
                <a:ea typeface="Libre Franklin"/>
                <a:cs typeface="Libre Franklin"/>
              </a:defRPr>
            </a:pPr>
            <a:r>
              <a:rPr sz="2100" b="0">
                <a:solidFill>
                  <a:srgbClr val="0B1220"/>
                </a:solidFill>
                <a:latin typeface="Libre Franklin"/>
                <a:ea typeface="Libre Franklin"/>
                <a:cs typeface="Libre Franklin"/>
              </a:rPr>
              <a:t>Open request, funded quote, settlement</a:t>
            </a:r>
          </a:p>
          <a:p xmlns:a="http://schemas.openxmlformats.org/drawingml/2006/main">
            <a:pPr algn="l">
              <a:lnSpc>
                <a:spcPct val="112000"/>
              </a:lnSpc>
              <a:buNone/>
              <a:defRPr sz="2100" b="0">
                <a:solidFill>
                  <a:srgbClr val="0B1220"/>
                </a:solidFill>
                <a:latin typeface="Libre Franklin"/>
                <a:ea typeface="Libre Franklin"/>
                <a:cs typeface="Libre Franklin"/>
              </a:defRPr>
            </a:pPr>
            <a:r>
              <a:rPr sz="2100" b="0">
                <a:solidFill>
                  <a:srgbClr val="0B1220"/>
                </a:solidFill>
                <a:latin typeface="Libre Franklin"/>
                <a:ea typeface="Libre Franklin"/>
                <a:cs typeface="Libre Franklin"/>
              </a:rPr>
              <a:t>and repurchase with committed receipts</a:t>
            </a:r>
          </a:p>
        </p:txBody>
      </p:sp>
      <p:sp>
        <p:nvSpPr>
          <p:cNvPr id="6" name="Early human feedback">
            <a:extLst xmlns:a="http://schemas.openxmlformats.org/drawingml/2006/main">
              <a:ext uri="{FF2B5EF4-FFF2-40B4-BE49-F238E27FC236}">
                <a16:creationId xmlns:a16="http://schemas.microsoft.com/office/drawing/2014/main" id="{8DD798B6-FF00-4D7C-B5C5-C363101BF10E}"/>
              </a:ext>
            </a:extLst>
          </p:cNvPr>
          <p:cNvSpPr>
            <a:spLocks xmlns:a="http://schemas.openxmlformats.org/drawingml/2006/main" noGrp="1"/>
          </p:cNvSpPr>
          <p:nvPr/>
        </p:nvSpPr>
        <p:spPr>
          <a:xfrm xmlns:a="http://schemas.openxmlformats.org/drawingml/2006/main">
            <a:off x="685800" y="394335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0B1220"/>
                </a:solidFill>
                <a:latin typeface="Marcellus"/>
                <a:ea typeface="Marcellus"/>
                <a:cs typeface="Marcellus"/>
              </a:defRPr>
            </a:defPPr>
          </a:lstStyle>
          <a:p xmlns:a="http://schemas.openxmlformats.org/drawingml/2006/main">
            <a:pPr algn="l">
              <a:lnSpc>
                <a:spcPct val="112000"/>
              </a:lnSpc>
              <a:buNone/>
              <a:defRPr sz="2625" b="0">
                <a:solidFill>
                  <a:srgbClr val="0B1220"/>
                </a:solidFill>
                <a:latin typeface="Marcellus"/>
                <a:ea typeface="Marcellus"/>
                <a:cs typeface="Marcellus"/>
              </a:defRPr>
            </a:pPr>
            <a:r>
              <a:rPr sz="2625" b="0">
                <a:solidFill>
                  <a:srgbClr val="0B1220"/>
                </a:solidFill>
                <a:latin typeface="Marcellus"/>
                <a:ea typeface="Marcellus"/>
                <a:cs typeface="Marcellus"/>
              </a:rPr>
              <a:t>Early human feedback</a:t>
            </a:r>
          </a:p>
        </p:txBody>
      </p:sp>
      <p:sp>
        <p:nvSpPr>
          <p:cNvPr id="7" name="1 borrower episode and approximately">
            <a:extLst xmlns:a="http://schemas.openxmlformats.org/drawingml/2006/main">
              <a:ext uri="{FF2B5EF4-FFF2-40B4-BE49-F238E27FC236}">
                <a16:creationId xmlns:a16="http://schemas.microsoft.com/office/drawing/2014/main" id="{A9DA4EC0-CF2D-4B71-A64A-766AFE003F00}"/>
              </a:ext>
            </a:extLst>
          </p:cNvPr>
          <p:cNvSpPr>
            <a:spLocks xmlns:a="http://schemas.openxmlformats.org/drawingml/2006/main" noGrp="1"/>
          </p:cNvSpPr>
          <p:nvPr/>
        </p:nvSpPr>
        <p:spPr>
          <a:xfrm xmlns:a="http://schemas.openxmlformats.org/drawingml/2006/main">
            <a:off x="685800" y="46577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1220"/>
                </a:solidFill>
                <a:latin typeface="Libre Franklin"/>
                <a:ea typeface="Libre Franklin"/>
                <a:cs typeface="Libre Franklin"/>
              </a:defRPr>
            </a:defPPr>
          </a:lstStyle>
          <a:p xmlns:a="http://schemas.openxmlformats.org/drawingml/2006/main">
            <a:pPr algn="l">
              <a:lnSpc>
                <a:spcPct val="112000"/>
              </a:lnSpc>
              <a:buNone/>
              <a:defRPr sz="2100" b="0">
                <a:solidFill>
                  <a:srgbClr val="0B1220"/>
                </a:solidFill>
                <a:latin typeface="Libre Franklin"/>
                <a:ea typeface="Libre Franklin"/>
                <a:cs typeface="Libre Franklin"/>
              </a:defRPr>
            </a:pPr>
            <a:r>
              <a:rPr sz="2100" b="0">
                <a:solidFill>
                  <a:srgbClr val="0B1220"/>
                </a:solidFill>
                <a:latin typeface="Libre Franklin"/>
                <a:ea typeface="Libre Franklin"/>
                <a:cs typeface="Libre Franklin"/>
              </a:rPr>
              <a:t>1 borrower episode and approximately 3–5 informal app explorers</a:t>
            </a:r>
          </a:p>
        </p:txBody>
      </p:sp>
      <p:sp>
        <p:nvSpPr>
          <p:cNvPr id="8" name="Simulated assets. Tester count and c">
            <a:extLst xmlns:a="http://schemas.openxmlformats.org/drawingml/2006/main">
              <a:ext uri="{FF2B5EF4-FFF2-40B4-BE49-F238E27FC236}">
                <a16:creationId xmlns:a16="http://schemas.microsoft.com/office/drawing/2014/main" id="{28649BCA-B6CC-43F2-85E9-22B507448BBE}"/>
              </a:ext>
            </a:extLst>
          </p:cNvPr>
          <p:cNvSpPr>
            <a:spLocks xmlns:a="http://schemas.openxmlformats.org/drawingml/2006/main" noGrp="1"/>
          </p:cNvSpPr>
          <p:nvPr/>
        </p:nvSpPr>
        <p:spPr>
          <a:xfrm xmlns:a="http://schemas.openxmlformats.org/drawingml/2006/main">
            <a:off x="2419350" y="6219825"/>
            <a:ext cx="871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5F65"/>
                </a:solidFill>
                <a:latin typeface="Libre Franklin"/>
                <a:ea typeface="Libre Franklin"/>
                <a:cs typeface="Libre Franklin"/>
              </a:defRPr>
            </a:defPPr>
          </a:lstStyle>
          <a:p xmlns:a="http://schemas.openxmlformats.org/drawingml/2006/main">
            <a:pPr algn="l">
              <a:lnSpc>
                <a:spcPct val="112000"/>
              </a:lnSpc>
              <a:buNone/>
              <a:defRPr sz="1350" b="0">
                <a:solidFill>
                  <a:srgbClr val="5B5F65"/>
                </a:solidFill>
                <a:latin typeface="Libre Franklin"/>
                <a:ea typeface="Libre Franklin"/>
                <a:cs typeface="Libre Franklin"/>
              </a:defRPr>
            </a:pPr>
            <a:r>
              <a:rPr sz="1350" b="0">
                <a:solidFill>
                  <a:srgbClr val="5B5F65"/>
                </a:solidFill>
                <a:latin typeface="Libre Franklin"/>
                <a:ea typeface="Libre Franklin"/>
                <a:cs typeface="Libre Franklin"/>
              </a:rPr>
              <a:t>Simulated assets. Tester count and completed steps remain unrecorded. ICP fit, willingness to pay and pilot commitments remain open.</a:t>
            </a:r>
          </a:p>
        </p:txBody>
      </p:sp>
    </p:spTree>
    <p:extLst>
      <p:ext uri="{BB962C8B-B14F-4D97-AF65-F5344CB8AC3E}">
        <p14:creationId xmlns:p14="http://schemas.microsoft.com/office/powerpoint/2010/main" val="1919194106"/>
      </p:ext>
    </p:extLst>
  </p:cSld>
</p:sld>
</file>

<file path=ppt/slides/slide9.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C165B49-95A2-470C-98D5-B96E9201EF87}"/>
              </a:ext>
            </a:extLst>
          </p:cNvPr>
          <p:cNvPicPr>
            <a:picLocks xmlns:a="http://schemas.openxmlformats.org/drawingml/2006/main" noChangeAspect="1"/>
          </p:cNvPicPr>
          <p:nvPr/>
        </p:nvPicPr>
        <p:blipFill>
          <a:blip xmlns:r="http://schemas.openxmlformats.org/officeDocument/2006/relationships" xmlns:a="http://schemas.openxmlformats.org/drawingml/2006/main" r:embed="Rfb57bd3434854f1e"/>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677F8498-0491-498B-A29C-624DF96C923F}"/>
              </a:ext>
            </a:extLst>
          </p:cNvPr>
          <p:cNvPicPr>
            <a:picLocks xmlns:a="http://schemas.openxmlformats.org/drawingml/2006/main" noChangeAspect="1"/>
          </p:cNvPicPr>
          <p:nvPr/>
        </p:nvPicPr>
        <p:blipFill>
          <a:blip xmlns:r="http://schemas.openxmlformats.org/officeDocument/2006/relationships" xmlns:a="http://schemas.openxmlformats.org/drawingml/2006/main" r:embed="Rfb57bd3434854f1e"/>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Business model">
            <a:extLst xmlns:a="http://schemas.openxmlformats.org/drawingml/2006/main">
              <a:ext uri="{FF2B5EF4-FFF2-40B4-BE49-F238E27FC236}">
                <a16:creationId xmlns:a16="http://schemas.microsoft.com/office/drawing/2014/main" id="{DC28275D-1B39-4D20-AAB0-D4C37EEFB3EA}"/>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Business model</a:t>
            </a:r>
          </a:p>
        </p:txBody>
      </p:sp>
      <p:sp>
        <p:nvSpPr>
          <p:cNvPr id="4" name="0.1% of interest">
            <a:extLst xmlns:a="http://schemas.openxmlformats.org/drawingml/2006/main">
              <a:ext uri="{FF2B5EF4-FFF2-40B4-BE49-F238E27FC236}">
                <a16:creationId xmlns:a16="http://schemas.microsoft.com/office/drawing/2014/main" id="{D537A3F6-38B8-4083-95E1-BEDCB2982692}"/>
              </a:ext>
            </a:extLst>
          </p:cNvPr>
          <p:cNvSpPr>
            <a:spLocks xmlns:a="http://schemas.openxmlformats.org/drawingml/2006/main" noGrp="1"/>
          </p:cNvSpPr>
          <p:nvPr/>
        </p:nvSpPr>
        <p:spPr>
          <a:xfrm xmlns:a="http://schemas.openxmlformats.org/drawingml/2006/main">
            <a:off x="685800" y="1762125"/>
            <a:ext cx="9906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0">
                <a:solidFill>
                  <a:srgbClr val="8A6810"/>
                </a:solidFill>
                <a:latin typeface="Marcellus"/>
                <a:ea typeface="Marcellus"/>
                <a:cs typeface="Marcellus"/>
              </a:defRPr>
            </a:defPPr>
          </a:lstStyle>
          <a:p xmlns:a="http://schemas.openxmlformats.org/drawingml/2006/main">
            <a:pPr algn="l">
              <a:lnSpc>
                <a:spcPct val="112000"/>
              </a:lnSpc>
              <a:buNone/>
              <a:defRPr sz="5550" b="0">
                <a:solidFill>
                  <a:srgbClr val="8A6810"/>
                </a:solidFill>
                <a:latin typeface="Marcellus"/>
                <a:ea typeface="Marcellus"/>
                <a:cs typeface="Marcellus"/>
              </a:defRPr>
            </a:pPr>
            <a:r>
              <a:rPr sz="5550" b="0">
                <a:solidFill>
                  <a:srgbClr val="8A6810"/>
                </a:solidFill>
                <a:latin typeface="Marcellus"/>
                <a:ea typeface="Marcellus"/>
                <a:cs typeface="Marcellus"/>
              </a:rPr>
              <a:t>0.1% of interest</a:t>
            </a:r>
          </a:p>
        </p:txBody>
      </p:sp>
      <p:sp>
        <p:nvSpPr>
          <p:cNvPr id="5" name="From the borrower and from the lende">
            <a:extLst xmlns:a="http://schemas.openxmlformats.org/drawingml/2006/main">
              <a:ext uri="{FF2B5EF4-FFF2-40B4-BE49-F238E27FC236}">
                <a16:creationId xmlns:a16="http://schemas.microsoft.com/office/drawing/2014/main" id="{8AD1AC69-45E9-42F2-BE5A-D79CD0F88127}"/>
              </a:ext>
            </a:extLst>
          </p:cNvPr>
          <p:cNvSpPr>
            <a:spLocks xmlns:a="http://schemas.openxmlformats.org/drawingml/2006/main" noGrp="1"/>
          </p:cNvSpPr>
          <p:nvPr/>
        </p:nvSpPr>
        <p:spPr>
          <a:xfrm xmlns:a="http://schemas.openxmlformats.org/drawingml/2006/main">
            <a:off x="685800" y="29908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1220"/>
                </a:solidFill>
                <a:latin typeface="Libre Franklin"/>
                <a:ea typeface="Libre Franklin"/>
                <a:cs typeface="Libre Franklin"/>
              </a:defRPr>
            </a:defPPr>
          </a:lstStyle>
          <a:p xmlns:a="http://schemas.openxmlformats.org/drawingml/2006/main">
            <a:pPr algn="l">
              <a:lnSpc>
                <a:spcPct val="112000"/>
              </a:lnSpc>
              <a:buNone/>
              <a:defRPr sz="2250" b="0">
                <a:solidFill>
                  <a:srgbClr val="0B1220"/>
                </a:solidFill>
                <a:latin typeface="Libre Franklin"/>
                <a:ea typeface="Libre Franklin"/>
                <a:cs typeface="Libre Franklin"/>
              </a:defRPr>
            </a:pPr>
            <a:r>
              <a:rPr sz="2250" b="0">
                <a:solidFill>
                  <a:srgbClr val="0B1220"/>
                </a:solidFill>
                <a:latin typeface="Libre Franklin"/>
                <a:ea typeface="Libre Franklin"/>
                <a:cs typeface="Libre Franklin"/>
              </a:rPr>
              <a:t>From the borrower and from the lender</a:t>
            </a:r>
          </a:p>
        </p:txBody>
      </p:sp>
      <p:graphicFrame>
        <p:nvGraphicFramePr>
          <p:cNvPr id="6" name="">
            <a:extLst xmlns:a="http://schemas.openxmlformats.org/drawingml/2006/main">
              <a:ext uri="{FF2B5EF4-FFF2-40B4-BE49-F238E27FC236}">
                <a16:creationId xmlns:a16="http://schemas.microsoft.com/office/drawing/2014/main" id="{F6C30AD7-9ED4-4E27-AA30-837BD68150FD}"/>
              </a:ext>
            </a:extLst>
          </p:cNvPr>
          <p:cNvGraphicFramePr/>
          <p:nvPr/>
        </p:nvGraphicFramePr>
        <p:xfrm>
          <a:off xmlns:a="http://schemas.openxmlformats.org/drawingml/2006/main" x="685800" y="4105275"/>
          <a:ext xmlns:a="http://schemas.openxmlformats.org/drawingml/2006/main" cx="10620375" cy="1381125"/>
        </p:xfrm>
        <a:graphic xmlns:a="http://schemas.openxmlformats.org/drawingml/2006/main">
          <a:graphicData uri="http://schemas.openxmlformats.org/drawingml/2006/table">
            <a:tbl>
              <a:tblPr/>
              <a:tblGrid>
                <a:gridCol w="3952875"/>
                <a:gridCol w="3333750"/>
                <a:gridCol w="3333750"/>
              </a:tblGrid>
              <a:tr h="690563">
                <a:tc>
                  <a:txBody>
                    <a:bodyPr>
                      <a:noAutofit/>
                    </a:bodyPr>
                    <a:lstStyle/>
                    <a:p>
                      <a:r>
                        <a:rPr sz="1725" b="1">
                          <a:solidFill>
                            <a:srgbClr val="F4E9CE"/>
                          </a:solidFill>
                          <a:latin typeface="Libre Franklin"/>
                          <a:ea typeface="Libre Franklin"/>
                          <a:cs typeface="Libre Franklin"/>
                        </a:rPr>
                        <a:t>Illustrative interest</a:t>
                      </a:r>
                    </a:p>
                  </a:txBody>
                  <a:tcPr marL="171450" marR="171450" marT="123825" marB="123825" anchor="ctr" horzOverflow="wrap">
                    <a:solidFill>
                      <a:srgbClr val="0B1220"/>
                    </a:solidFill>
                  </a:tcPr>
                </a:tc>
                <a:tc>
                  <a:txBody>
                    <a:bodyPr>
                      <a:noAutofit/>
                    </a:bodyPr>
                    <a:lstStyle/>
                    <a:p>
                      <a:r>
                        <a:rPr sz="1725" b="1">
                          <a:solidFill>
                            <a:srgbClr val="F4E9CE"/>
                          </a:solidFill>
                          <a:latin typeface="Libre Franklin"/>
                          <a:ea typeface="Libre Franklin"/>
                          <a:cs typeface="Libre Franklin"/>
                        </a:rPr>
                        <a:t>Fee from each side</a:t>
                      </a:r>
                    </a:p>
                  </a:txBody>
                  <a:tcPr marL="171450" marR="171450" marT="123825" marB="123825" anchor="ctr" horzOverflow="wrap">
                    <a:solidFill>
                      <a:srgbClr val="0B1220"/>
                    </a:solidFill>
                  </a:tcPr>
                </a:tc>
                <a:tc>
                  <a:txBody>
                    <a:bodyPr>
                      <a:noAutofit/>
                    </a:bodyPr>
                    <a:lstStyle/>
                    <a:p>
                      <a:r>
                        <a:rPr sz="1725" b="1">
                          <a:solidFill>
                            <a:srgbClr val="F4E9CE"/>
                          </a:solidFill>
                          <a:latin typeface="Libre Franklin"/>
                          <a:ea typeface="Libre Franklin"/>
                          <a:cs typeface="Libre Franklin"/>
                        </a:rPr>
                        <a:t>Total protocol fee</a:t>
                      </a:r>
                    </a:p>
                  </a:txBody>
                  <a:tcPr marL="171450" marR="171450" marT="123825" marB="123825" anchor="ctr" horzOverflow="wrap">
                    <a:solidFill>
                      <a:srgbClr val="0B1220"/>
                    </a:solidFill>
                  </a:tcPr>
                </a:tc>
              </a:tr>
              <a:tr h="690563">
                <a:tc>
                  <a:txBody>
                    <a:bodyPr>
                      <a:noAutofit/>
                    </a:bodyPr>
                    <a:lstStyle/>
                    <a:p>
                      <a:r>
                        <a:rPr sz="2175" b="0">
                          <a:solidFill>
                            <a:srgbClr val="0B1220"/>
                          </a:solidFill>
                          <a:latin typeface="Libre Franklin"/>
                          <a:ea typeface="Libre Franklin"/>
                          <a:cs typeface="Libre Franklin"/>
                        </a:rPr>
                        <a:t>5,000 USDCx-demo</a:t>
                      </a:r>
                    </a:p>
                  </a:txBody>
                  <a:tcPr marL="171450" marR="171450" marT="123825" marB="123825" anchor="ctr" horzOverflow="wrap">
                    <a:solidFill>
                      <a:srgbClr val="EFE5CC"/>
                    </a:solidFill>
                  </a:tcPr>
                </a:tc>
                <a:tc>
                  <a:txBody>
                    <a:bodyPr>
                      <a:noAutofit/>
                    </a:bodyPr>
                    <a:lstStyle/>
                    <a:p>
                      <a:r>
                        <a:rPr sz="2175" b="0">
                          <a:solidFill>
                            <a:srgbClr val="0B1220"/>
                          </a:solidFill>
                          <a:latin typeface="Libre Franklin"/>
                          <a:ea typeface="Libre Franklin"/>
                          <a:cs typeface="Libre Franklin"/>
                        </a:rPr>
                        <a:t>5 USDCx-demo</a:t>
                      </a:r>
                    </a:p>
                  </a:txBody>
                  <a:tcPr marL="171450" marR="171450" marT="123825" marB="123825" anchor="ctr" horzOverflow="wrap">
                    <a:solidFill>
                      <a:srgbClr val="EFE5CC"/>
                    </a:solidFill>
                  </a:tcPr>
                </a:tc>
                <a:tc>
                  <a:txBody>
                    <a:bodyPr>
                      <a:noAutofit/>
                    </a:bodyPr>
                    <a:lstStyle/>
                    <a:p>
                      <a:r>
                        <a:rPr sz="2175" b="0">
                          <a:solidFill>
                            <a:srgbClr val="0B1220"/>
                          </a:solidFill>
                          <a:latin typeface="Libre Franklin"/>
                          <a:ea typeface="Libre Franklin"/>
                          <a:cs typeface="Libre Franklin"/>
                        </a:rPr>
                        <a:t>10 USDCx-demo</a:t>
                      </a:r>
                    </a:p>
                  </a:txBody>
                  <a:tcPr marL="171450" marR="171450" marT="123825" marB="123825" anchor="ctr" horzOverflow="wrap">
                    <a:solidFill>
                      <a:srgbClr val="EFE5CC"/>
                    </a:solidFill>
                  </a:tcPr>
                </a:tc>
              </a:tr>
            </a:tbl>
          </a:graphicData>
        </a:graphic>
      </p:graphicFrame>
      <p:sp>
        <p:nvSpPr>
          <p:cNvPr id="7" name="Intended model. Fee collection is no">
            <a:extLst xmlns:a="http://schemas.openxmlformats.org/drawingml/2006/main">
              <a:ext uri="{FF2B5EF4-FFF2-40B4-BE49-F238E27FC236}">
                <a16:creationId xmlns:a16="http://schemas.microsoft.com/office/drawing/2014/main" id="{3F119929-771A-4DA2-A07C-B23459839714}"/>
              </a:ext>
            </a:extLst>
          </p:cNvPr>
          <p:cNvSpPr>
            <a:spLocks xmlns:a="http://schemas.openxmlformats.org/drawingml/2006/main" noGrp="1"/>
          </p:cNvSpPr>
          <p:nvPr/>
        </p:nvSpPr>
        <p:spPr>
          <a:xfrm xmlns:a="http://schemas.openxmlformats.org/drawingml/2006/main">
            <a:off x="2419350" y="6219825"/>
            <a:ext cx="871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5F65"/>
                </a:solidFill>
                <a:latin typeface="Libre Franklin"/>
                <a:ea typeface="Libre Franklin"/>
                <a:cs typeface="Libre Franklin"/>
              </a:defRPr>
            </a:defPPr>
          </a:lstStyle>
          <a:p xmlns:a="http://schemas.openxmlformats.org/drawingml/2006/main">
            <a:pPr algn="l">
              <a:lnSpc>
                <a:spcPct val="112000"/>
              </a:lnSpc>
              <a:buNone/>
              <a:defRPr sz="1350" b="0">
                <a:solidFill>
                  <a:srgbClr val="5B5F65"/>
                </a:solidFill>
                <a:latin typeface="Libre Franklin"/>
                <a:ea typeface="Libre Franklin"/>
                <a:cs typeface="Libre Franklin"/>
              </a:defRPr>
            </a:pPr>
            <a:r>
              <a:rPr sz="1350" b="0">
                <a:solidFill>
                  <a:srgbClr val="5B5F65"/>
                </a:solidFill>
                <a:latin typeface="Libre Franklin"/>
                <a:ea typeface="Libre Franklin"/>
                <a:cs typeface="Libre Franklin"/>
              </a:rPr>
              <a:t>Intended model. Fee collection is not implemented in the demo. Current protocol fees and revenue are zero.</a:t>
            </a:r>
          </a:p>
        </p:txBody>
      </p:sp>
    </p:spTree>
    <p:extLst>
      <p:ext uri="{BB962C8B-B14F-4D97-AF65-F5344CB8AC3E}">
        <p14:creationId xmlns:p14="http://schemas.microsoft.com/office/powerpoint/2010/main" val="124234101"/>
      </p:ext>
    </p:extLst>
  </p:cSld>
</p:sld>
</file>

<file path=ppt/slides/slide10.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A3ECB93-4C9B-4649-A890-7760D5D6E937}"/>
              </a:ext>
            </a:extLst>
          </p:cNvPr>
          <p:cNvPicPr>
            <a:picLocks xmlns:a="http://schemas.openxmlformats.org/drawingml/2006/main" noChangeAspect="1"/>
          </p:cNvPicPr>
          <p:nvPr/>
        </p:nvPicPr>
        <p:blipFill>
          <a:blip xmlns:r="http://schemas.openxmlformats.org/officeDocument/2006/relationships" xmlns:a="http://schemas.openxmlformats.org/drawingml/2006/main" r:embed="Ree081add5c6c4414"/>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4B4A004-F57C-439A-B4A6-6D51B0E08E55}"/>
              </a:ext>
            </a:extLst>
          </p:cNvPr>
          <p:cNvPicPr>
            <a:picLocks xmlns:a="http://schemas.openxmlformats.org/drawingml/2006/main" noChangeAspect="1"/>
          </p:cNvPicPr>
          <p:nvPr/>
        </p:nvPicPr>
        <p:blipFill>
          <a:blip xmlns:r="http://schemas.openxmlformats.org/officeDocument/2006/relationships" xmlns:a="http://schemas.openxmlformats.org/drawingml/2006/main" r:embed="Ree081add5c6c4414"/>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The next 90 days">
            <a:extLst xmlns:a="http://schemas.openxmlformats.org/drawingml/2006/main">
              <a:ext uri="{FF2B5EF4-FFF2-40B4-BE49-F238E27FC236}">
                <a16:creationId xmlns:a16="http://schemas.microsoft.com/office/drawing/2014/main" id="{06091AB0-D180-426E-ABA1-BCD2F3B9A38F}"/>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The next 90 days</a:t>
            </a:r>
          </a:p>
        </p:txBody>
      </p:sp>
      <p:sp>
        <p:nvSpPr>
          <p:cNvPr id="4" name="Weeks 1–4">
            <a:extLst xmlns:a="http://schemas.openxmlformats.org/drawingml/2006/main">
              <a:ext uri="{FF2B5EF4-FFF2-40B4-BE49-F238E27FC236}">
                <a16:creationId xmlns:a16="http://schemas.microsoft.com/office/drawing/2014/main" id="{C5CDA3C0-BA66-4E11-98E0-6FEC4BE0A976}"/>
              </a:ext>
            </a:extLst>
          </p:cNvPr>
          <p:cNvSpPr>
            <a:spLocks xmlns:a="http://schemas.openxmlformats.org/drawingml/2006/main" noGrp="1"/>
          </p:cNvSpPr>
          <p:nvPr/>
        </p:nvSpPr>
        <p:spPr>
          <a:xfrm xmlns:a="http://schemas.openxmlformats.org/drawingml/2006/main">
            <a:off x="685800" y="18097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A6810"/>
                </a:solidFill>
                <a:latin typeface="Libre Franklin"/>
                <a:ea typeface="Libre Franklin"/>
                <a:cs typeface="Libre Franklin"/>
              </a:defRPr>
            </a:defPPr>
          </a:lstStyle>
          <a:p xmlns:a="http://schemas.openxmlformats.org/drawingml/2006/main">
            <a:pPr algn="l">
              <a:lnSpc>
                <a:spcPct val="112000"/>
              </a:lnSpc>
              <a:buNone/>
              <a:defRPr sz="2250" b="1">
                <a:solidFill>
                  <a:srgbClr val="8A6810"/>
                </a:solidFill>
                <a:latin typeface="Libre Franklin"/>
                <a:ea typeface="Libre Franklin"/>
                <a:cs typeface="Libre Franklin"/>
              </a:defRPr>
            </a:pPr>
            <a:r>
              <a:rPr sz="2250" b="1">
                <a:solidFill>
                  <a:srgbClr val="8A6810"/>
                </a:solidFill>
                <a:latin typeface="Libre Franklin"/>
                <a:ea typeface="Libre Franklin"/>
                <a:cs typeface="Libre Franklin"/>
              </a:rPr>
              <a:t>Weeks 1–4</a:t>
            </a:r>
          </a:p>
        </p:txBody>
      </p:sp>
      <p:sp>
        <p:nvSpPr>
          <p:cNvPr id="5" name="Operator discovery">
            <a:extLst xmlns:a="http://schemas.openxmlformats.org/drawingml/2006/main">
              <a:ext uri="{FF2B5EF4-FFF2-40B4-BE49-F238E27FC236}">
                <a16:creationId xmlns:a16="http://schemas.microsoft.com/office/drawing/2014/main" id="{071067BE-DFAB-44B6-8BF9-1AB5A9084896}"/>
              </a:ext>
            </a:extLst>
          </p:cNvPr>
          <p:cNvSpPr>
            <a:spLocks xmlns:a="http://schemas.openxmlformats.org/drawingml/2006/main" noGrp="1"/>
          </p:cNvSpPr>
          <p:nvPr/>
        </p:nvSpPr>
        <p:spPr>
          <a:xfrm xmlns:a="http://schemas.openxmlformats.org/drawingml/2006/main">
            <a:off x="685800" y="26289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1220"/>
                </a:solidFill>
                <a:latin typeface="Marcellus"/>
                <a:ea typeface="Marcellus"/>
                <a:cs typeface="Marcellus"/>
              </a:defRPr>
            </a:defPPr>
          </a:lstStyle>
          <a:p xmlns:a="http://schemas.openxmlformats.org/drawingml/2006/main">
            <a:pPr algn="l">
              <a:lnSpc>
                <a:spcPct val="112000"/>
              </a:lnSpc>
              <a:buNone/>
              <a:defRPr sz="2325" b="0">
                <a:solidFill>
                  <a:srgbClr val="0B1220"/>
                </a:solidFill>
                <a:latin typeface="Marcellus"/>
                <a:ea typeface="Marcellus"/>
                <a:cs typeface="Marcellus"/>
              </a:defRPr>
            </a:pPr>
            <a:r>
              <a:rPr sz="2325" b="0">
                <a:solidFill>
                  <a:srgbClr val="0B1220"/>
                </a:solidFill>
                <a:latin typeface="Marcellus"/>
                <a:ea typeface="Marcellus"/>
                <a:cs typeface="Marcellus"/>
              </a:rPr>
              <a:t>Operator discovery</a:t>
            </a:r>
          </a:p>
        </p:txBody>
      </p:sp>
      <p:sp>
        <p:nvSpPr>
          <p:cNvPr id="6" name="8 relevant interviews&#10;3 observed wal">
            <a:extLst xmlns:a="http://schemas.openxmlformats.org/drawingml/2006/main">
              <a:ext uri="{FF2B5EF4-FFF2-40B4-BE49-F238E27FC236}">
                <a16:creationId xmlns:a16="http://schemas.microsoft.com/office/drawing/2014/main" id="{377D2FF5-ABC6-47DA-997F-11EA669DFB09}"/>
              </a:ext>
            </a:extLst>
          </p:cNvPr>
          <p:cNvSpPr>
            <a:spLocks xmlns:a="http://schemas.openxmlformats.org/drawingml/2006/main" noGrp="1"/>
          </p:cNvSpPr>
          <p:nvPr/>
        </p:nvSpPr>
        <p:spPr>
          <a:xfrm xmlns:a="http://schemas.openxmlformats.org/drawingml/2006/main">
            <a:off x="685800" y="3838575"/>
            <a:ext cx="323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B5F65"/>
                </a:solidFill>
                <a:latin typeface="Libre Franklin"/>
                <a:ea typeface="Libre Franklin"/>
                <a:cs typeface="Libre Franklin"/>
              </a:defRPr>
            </a:defPPr>
          </a:lstStyle>
          <a:p xmlns:a="http://schemas.openxmlformats.org/drawingml/2006/main">
            <a:pPr algn="l">
              <a:lnSpc>
                <a:spcPct val="112000"/>
              </a:lnSpc>
              <a:buNone/>
              <a:defRPr sz="1950" b="0">
                <a:solidFill>
                  <a:srgbClr val="5B5F65"/>
                </a:solidFill>
                <a:latin typeface="Libre Franklin"/>
                <a:ea typeface="Libre Franklin"/>
                <a:cs typeface="Libre Franklin"/>
              </a:defRPr>
            </a:pPr>
            <a:r>
              <a:rPr sz="1950" b="0">
                <a:solidFill>
                  <a:srgbClr val="5B5F65"/>
                </a:solidFill>
                <a:latin typeface="Libre Franklin"/>
                <a:ea typeface="Libre Franklin"/>
                <a:cs typeface="Libre Franklin"/>
              </a:rPr>
              <a:t>8 relevant interviews</a:t>
            </a:r>
          </a:p>
          <a:p xmlns:a="http://schemas.openxmlformats.org/drawingml/2006/main">
            <a:pPr algn="l">
              <a:lnSpc>
                <a:spcPct val="112000"/>
              </a:lnSpc>
              <a:buNone/>
              <a:defRPr sz="1950" b="0">
                <a:solidFill>
                  <a:srgbClr val="5B5F65"/>
                </a:solidFill>
                <a:latin typeface="Libre Franklin"/>
                <a:ea typeface="Libre Franklin"/>
                <a:cs typeface="Libre Franklin"/>
              </a:defRPr>
            </a:pPr>
            <a:r>
              <a:rPr sz="1950" b="0">
                <a:solidFill>
                  <a:srgbClr val="5B5F65"/>
                </a:solidFill>
                <a:latin typeface="Libre Franklin"/>
                <a:ea typeface="Libre Franklin"/>
                <a:cs typeface="Libre Franklin"/>
              </a:rPr>
              <a:t>3 observed walkthroughs</a:t>
            </a:r>
          </a:p>
        </p:txBody>
      </p:sp>
      <p:sp>
        <p:nvSpPr>
          <p:cNvPr id="7" name="Weeks 5–8">
            <a:extLst xmlns:a="http://schemas.openxmlformats.org/drawingml/2006/main">
              <a:ext uri="{FF2B5EF4-FFF2-40B4-BE49-F238E27FC236}">
                <a16:creationId xmlns:a16="http://schemas.microsoft.com/office/drawing/2014/main" id="{C338A4FC-307D-4EE5-BC25-D1602F8692ED}"/>
              </a:ext>
            </a:extLst>
          </p:cNvPr>
          <p:cNvSpPr>
            <a:spLocks xmlns:a="http://schemas.openxmlformats.org/drawingml/2006/main" noGrp="1"/>
          </p:cNvSpPr>
          <p:nvPr/>
        </p:nvSpPr>
        <p:spPr>
          <a:xfrm xmlns:a="http://schemas.openxmlformats.org/drawingml/2006/main">
            <a:off x="4476750" y="18097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A6810"/>
                </a:solidFill>
                <a:latin typeface="Libre Franklin"/>
                <a:ea typeface="Libre Franklin"/>
                <a:cs typeface="Libre Franklin"/>
              </a:defRPr>
            </a:defPPr>
          </a:lstStyle>
          <a:p xmlns:a="http://schemas.openxmlformats.org/drawingml/2006/main">
            <a:pPr algn="l">
              <a:lnSpc>
                <a:spcPct val="112000"/>
              </a:lnSpc>
              <a:buNone/>
              <a:defRPr sz="2250" b="1">
                <a:solidFill>
                  <a:srgbClr val="8A6810"/>
                </a:solidFill>
                <a:latin typeface="Libre Franklin"/>
                <a:ea typeface="Libre Franklin"/>
                <a:cs typeface="Libre Franklin"/>
              </a:defRPr>
            </a:pPr>
            <a:r>
              <a:rPr sz="2250" b="1">
                <a:solidFill>
                  <a:srgbClr val="8A6810"/>
                </a:solidFill>
                <a:latin typeface="Libre Franklin"/>
                <a:ea typeface="Libre Franklin"/>
                <a:cs typeface="Libre Franklin"/>
              </a:rPr>
              <a:t>Weeks 5–8</a:t>
            </a:r>
          </a:p>
        </p:txBody>
      </p:sp>
      <p:sp>
        <p:nvSpPr>
          <p:cNvPr id="8" name="External rehearsal">
            <a:extLst xmlns:a="http://schemas.openxmlformats.org/drawingml/2006/main">
              <a:ext uri="{FF2B5EF4-FFF2-40B4-BE49-F238E27FC236}">
                <a16:creationId xmlns:a16="http://schemas.microsoft.com/office/drawing/2014/main" id="{4827BC27-C842-404D-A226-980B9CAB34C7}"/>
              </a:ext>
            </a:extLst>
          </p:cNvPr>
          <p:cNvSpPr>
            <a:spLocks xmlns:a="http://schemas.openxmlformats.org/drawingml/2006/main" noGrp="1"/>
          </p:cNvSpPr>
          <p:nvPr/>
        </p:nvSpPr>
        <p:spPr>
          <a:xfrm xmlns:a="http://schemas.openxmlformats.org/drawingml/2006/main">
            <a:off x="4476750" y="26289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1220"/>
                </a:solidFill>
                <a:latin typeface="Marcellus"/>
                <a:ea typeface="Marcellus"/>
                <a:cs typeface="Marcellus"/>
              </a:defRPr>
            </a:defPPr>
          </a:lstStyle>
          <a:p xmlns:a="http://schemas.openxmlformats.org/drawingml/2006/main">
            <a:pPr algn="l">
              <a:lnSpc>
                <a:spcPct val="112000"/>
              </a:lnSpc>
              <a:buNone/>
              <a:defRPr sz="2325" b="0">
                <a:solidFill>
                  <a:srgbClr val="0B1220"/>
                </a:solidFill>
                <a:latin typeface="Marcellus"/>
                <a:ea typeface="Marcellus"/>
                <a:cs typeface="Marcellus"/>
              </a:defRPr>
            </a:pPr>
            <a:r>
              <a:rPr sz="2325" b="0">
                <a:solidFill>
                  <a:srgbClr val="0B1220"/>
                </a:solidFill>
                <a:latin typeface="Marcellus"/>
                <a:ea typeface="Marcellus"/>
                <a:cs typeface="Marcellus"/>
              </a:rPr>
              <a:t>External rehearsal</a:t>
            </a:r>
          </a:p>
        </p:txBody>
      </p:sp>
      <p:sp>
        <p:nvSpPr>
          <p:cNvPr id="9" name="1 borrower and lender pair&#10;Asset and">
            <a:extLst xmlns:a="http://schemas.openxmlformats.org/drawingml/2006/main">
              <a:ext uri="{FF2B5EF4-FFF2-40B4-BE49-F238E27FC236}">
                <a16:creationId xmlns:a16="http://schemas.microsoft.com/office/drawing/2014/main" id="{2BF84238-8A7A-44A1-9BFD-095554FE8FEF}"/>
              </a:ext>
            </a:extLst>
          </p:cNvPr>
          <p:cNvSpPr>
            <a:spLocks xmlns:a="http://schemas.openxmlformats.org/drawingml/2006/main" noGrp="1"/>
          </p:cNvSpPr>
          <p:nvPr/>
        </p:nvSpPr>
        <p:spPr>
          <a:xfrm xmlns:a="http://schemas.openxmlformats.org/drawingml/2006/main">
            <a:off x="4476750" y="3838575"/>
            <a:ext cx="323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B5F65"/>
                </a:solidFill>
                <a:latin typeface="Libre Franklin"/>
                <a:ea typeface="Libre Franklin"/>
                <a:cs typeface="Libre Franklin"/>
              </a:defRPr>
            </a:defPPr>
          </a:lstStyle>
          <a:p xmlns:a="http://schemas.openxmlformats.org/drawingml/2006/main">
            <a:pPr algn="l">
              <a:lnSpc>
                <a:spcPct val="112000"/>
              </a:lnSpc>
              <a:buNone/>
              <a:defRPr sz="1950" b="0">
                <a:solidFill>
                  <a:srgbClr val="5B5F65"/>
                </a:solidFill>
                <a:latin typeface="Libre Franklin"/>
                <a:ea typeface="Libre Franklin"/>
                <a:cs typeface="Libre Franklin"/>
              </a:defRPr>
            </a:pPr>
            <a:r>
              <a:rPr sz="1950" b="0">
                <a:solidFill>
                  <a:srgbClr val="5B5F65"/>
                </a:solidFill>
                <a:latin typeface="Libre Franklin"/>
                <a:ea typeface="Libre Franklin"/>
                <a:cs typeface="Libre Franklin"/>
              </a:rPr>
              <a:t>1 borrower and lender pair</a:t>
            </a:r>
          </a:p>
          <a:p xmlns:a="http://schemas.openxmlformats.org/drawingml/2006/main">
            <a:pPr algn="l">
              <a:lnSpc>
                <a:spcPct val="112000"/>
              </a:lnSpc>
              <a:buNone/>
              <a:defRPr sz="1950" b="0">
                <a:solidFill>
                  <a:srgbClr val="5B5F65"/>
                </a:solidFill>
                <a:latin typeface="Libre Franklin"/>
                <a:ea typeface="Libre Franklin"/>
                <a:cs typeface="Libre Franklin"/>
              </a:defRPr>
            </a:pPr>
            <a:r>
              <a:rPr sz="1950" b="0">
                <a:solidFill>
                  <a:srgbClr val="5B5F65"/>
                </a:solidFill>
                <a:latin typeface="Libre Franklin"/>
                <a:ea typeface="Libre Franklin"/>
                <a:cs typeface="Libre Franklin"/>
              </a:rPr>
              <a:t>Asset and oracle feasibility</a:t>
            </a:r>
          </a:p>
        </p:txBody>
      </p:sp>
      <p:sp>
        <p:nvSpPr>
          <p:cNvPr id="10" name="Weeks 9–12">
            <a:extLst xmlns:a="http://schemas.openxmlformats.org/drawingml/2006/main">
              <a:ext uri="{FF2B5EF4-FFF2-40B4-BE49-F238E27FC236}">
                <a16:creationId xmlns:a16="http://schemas.microsoft.com/office/drawing/2014/main" id="{1D9E5653-AA6F-4E15-9DD0-33F0DD1422A4}"/>
              </a:ext>
            </a:extLst>
          </p:cNvPr>
          <p:cNvSpPr>
            <a:spLocks xmlns:a="http://schemas.openxmlformats.org/drawingml/2006/main" noGrp="1"/>
          </p:cNvSpPr>
          <p:nvPr/>
        </p:nvSpPr>
        <p:spPr>
          <a:xfrm xmlns:a="http://schemas.openxmlformats.org/drawingml/2006/main">
            <a:off x="8258175" y="18097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A6810"/>
                </a:solidFill>
                <a:latin typeface="Libre Franklin"/>
                <a:ea typeface="Libre Franklin"/>
                <a:cs typeface="Libre Franklin"/>
              </a:defRPr>
            </a:defPPr>
          </a:lstStyle>
          <a:p xmlns:a="http://schemas.openxmlformats.org/drawingml/2006/main">
            <a:pPr algn="l">
              <a:lnSpc>
                <a:spcPct val="112000"/>
              </a:lnSpc>
              <a:buNone/>
              <a:defRPr sz="2250" b="1">
                <a:solidFill>
                  <a:srgbClr val="8A6810"/>
                </a:solidFill>
                <a:latin typeface="Libre Franklin"/>
                <a:ea typeface="Libre Franklin"/>
                <a:cs typeface="Libre Franklin"/>
              </a:defRPr>
            </a:pPr>
            <a:r>
              <a:rPr sz="2250" b="1">
                <a:solidFill>
                  <a:srgbClr val="8A6810"/>
                </a:solidFill>
                <a:latin typeface="Libre Franklin"/>
                <a:ea typeface="Libre Franklin"/>
                <a:cs typeface="Libre Franklin"/>
              </a:rPr>
              <a:t>Weeks 9–12</a:t>
            </a:r>
          </a:p>
        </p:txBody>
      </p:sp>
      <p:sp>
        <p:nvSpPr>
          <p:cNvPr id="11" name="Pilot decision">
            <a:extLst xmlns:a="http://schemas.openxmlformats.org/drawingml/2006/main">
              <a:ext uri="{FF2B5EF4-FFF2-40B4-BE49-F238E27FC236}">
                <a16:creationId xmlns:a16="http://schemas.microsoft.com/office/drawing/2014/main" id="{F60DE920-671E-4EAA-AE81-524508FD5814}"/>
              </a:ext>
            </a:extLst>
          </p:cNvPr>
          <p:cNvSpPr>
            <a:spLocks xmlns:a="http://schemas.openxmlformats.org/drawingml/2006/main" noGrp="1"/>
          </p:cNvSpPr>
          <p:nvPr/>
        </p:nvSpPr>
        <p:spPr>
          <a:xfrm xmlns:a="http://schemas.openxmlformats.org/drawingml/2006/main">
            <a:off x="8258175" y="26289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1220"/>
                </a:solidFill>
                <a:latin typeface="Marcellus"/>
                <a:ea typeface="Marcellus"/>
                <a:cs typeface="Marcellus"/>
              </a:defRPr>
            </a:defPPr>
          </a:lstStyle>
          <a:p xmlns:a="http://schemas.openxmlformats.org/drawingml/2006/main">
            <a:pPr algn="l">
              <a:lnSpc>
                <a:spcPct val="112000"/>
              </a:lnSpc>
              <a:buNone/>
              <a:defRPr sz="2325" b="0">
                <a:solidFill>
                  <a:srgbClr val="0B1220"/>
                </a:solidFill>
                <a:latin typeface="Marcellus"/>
                <a:ea typeface="Marcellus"/>
                <a:cs typeface="Marcellus"/>
              </a:defRPr>
            </a:pPr>
            <a:r>
              <a:rPr sz="2325" b="0">
                <a:solidFill>
                  <a:srgbClr val="0B1220"/>
                </a:solidFill>
                <a:latin typeface="Marcellus"/>
                <a:ea typeface="Marcellus"/>
                <a:cs typeface="Marcellus"/>
              </a:rPr>
              <a:t>Pilot decision</a:t>
            </a:r>
          </a:p>
        </p:txBody>
      </p:sp>
      <p:sp>
        <p:nvSpPr>
          <p:cNvPr id="12" name="3 external simulated cycles&#10;Operatio">
            <a:extLst xmlns:a="http://schemas.openxmlformats.org/drawingml/2006/main">
              <a:ext uri="{FF2B5EF4-FFF2-40B4-BE49-F238E27FC236}">
                <a16:creationId xmlns:a16="http://schemas.microsoft.com/office/drawing/2014/main" id="{64874006-0F03-42AB-8B93-C4FB5591B18A}"/>
              </a:ext>
            </a:extLst>
          </p:cNvPr>
          <p:cNvSpPr>
            <a:spLocks xmlns:a="http://schemas.openxmlformats.org/drawingml/2006/main" noGrp="1"/>
          </p:cNvSpPr>
          <p:nvPr/>
        </p:nvSpPr>
        <p:spPr>
          <a:xfrm xmlns:a="http://schemas.openxmlformats.org/drawingml/2006/main">
            <a:off x="8258175" y="3838575"/>
            <a:ext cx="323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B5F65"/>
                </a:solidFill>
                <a:latin typeface="Libre Franklin"/>
                <a:ea typeface="Libre Franklin"/>
                <a:cs typeface="Libre Franklin"/>
              </a:defRPr>
            </a:defPPr>
          </a:lstStyle>
          <a:p xmlns:a="http://schemas.openxmlformats.org/drawingml/2006/main">
            <a:pPr algn="l">
              <a:lnSpc>
                <a:spcPct val="112000"/>
              </a:lnSpc>
              <a:buNone/>
              <a:defRPr sz="1950" b="0">
                <a:solidFill>
                  <a:srgbClr val="5B5F65"/>
                </a:solidFill>
                <a:latin typeface="Libre Franklin"/>
                <a:ea typeface="Libre Franklin"/>
                <a:cs typeface="Libre Franklin"/>
              </a:defRPr>
            </a:pPr>
            <a:r>
              <a:rPr sz="1950" b="0">
                <a:solidFill>
                  <a:srgbClr val="5B5F65"/>
                </a:solidFill>
                <a:latin typeface="Libre Franklin"/>
                <a:ea typeface="Libre Franklin"/>
                <a:cs typeface="Libre Franklin"/>
              </a:rPr>
              <a:t>3 external simulated cycles</a:t>
            </a:r>
          </a:p>
          <a:p xmlns:a="http://schemas.openxmlformats.org/drawingml/2006/main">
            <a:pPr algn="l">
              <a:lnSpc>
                <a:spcPct val="112000"/>
              </a:lnSpc>
              <a:buNone/>
              <a:defRPr sz="1950" b="0">
                <a:solidFill>
                  <a:srgbClr val="5B5F65"/>
                </a:solidFill>
                <a:latin typeface="Libre Franklin"/>
                <a:ea typeface="Libre Franklin"/>
                <a:cs typeface="Libre Franklin"/>
              </a:defRPr>
            </a:pPr>
            <a:r>
              <a:rPr sz="1950" b="0">
                <a:solidFill>
                  <a:srgbClr val="5B5F65"/>
                </a:solidFill>
                <a:latin typeface="Libre Franklin"/>
                <a:ea typeface="Libre Franklin"/>
                <a:cs typeface="Libre Franklin"/>
              </a:rPr>
              <a:t>Operational release gates</a:t>
            </a:r>
          </a:p>
        </p:txBody>
      </p:sp>
      <p:sp>
        <p:nvSpPr>
          <p:cNvPr id="13" name="Planning targets. First channel: Can">
            <a:extLst xmlns:a="http://schemas.openxmlformats.org/drawingml/2006/main">
              <a:ext uri="{FF2B5EF4-FFF2-40B4-BE49-F238E27FC236}">
                <a16:creationId xmlns:a16="http://schemas.microsoft.com/office/drawing/2014/main" id="{FF49E872-10C3-472F-89CA-BC9AC938CF40}"/>
              </a:ext>
            </a:extLst>
          </p:cNvPr>
          <p:cNvSpPr>
            <a:spLocks xmlns:a="http://schemas.openxmlformats.org/drawingml/2006/main" noGrp="1"/>
          </p:cNvSpPr>
          <p:nvPr/>
        </p:nvSpPr>
        <p:spPr>
          <a:xfrm xmlns:a="http://schemas.openxmlformats.org/drawingml/2006/main">
            <a:off x="2419350" y="6219825"/>
            <a:ext cx="871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5F65"/>
                </a:solidFill>
                <a:latin typeface="Libre Franklin"/>
                <a:ea typeface="Libre Franklin"/>
                <a:cs typeface="Libre Franklin"/>
              </a:defRPr>
            </a:defPPr>
          </a:lstStyle>
          <a:p xmlns:a="http://schemas.openxmlformats.org/drawingml/2006/main">
            <a:pPr algn="l">
              <a:lnSpc>
                <a:spcPct val="112000"/>
              </a:lnSpc>
              <a:buNone/>
              <a:defRPr sz="1350" b="0">
                <a:solidFill>
                  <a:srgbClr val="5B5F65"/>
                </a:solidFill>
                <a:latin typeface="Libre Franklin"/>
                <a:ea typeface="Libre Franklin"/>
                <a:cs typeface="Libre Franklin"/>
              </a:defRPr>
            </a:pPr>
            <a:r>
              <a:rPr sz="1350" b="0">
                <a:solidFill>
                  <a:srgbClr val="5B5F65"/>
                </a:solidFill>
                <a:latin typeface="Libre Franklin"/>
                <a:ea typeface="Libre Franklin"/>
                <a:cs typeface="Libre Franklin"/>
              </a:rPr>
              <a:t>Planning targets. First channel: Canton ecosystem introductions and direct treasury outreach. Native assets require adapters and approvals.</a:t>
            </a:r>
          </a:p>
        </p:txBody>
      </p:sp>
    </p:spTree>
    <p:extLst>
      <p:ext uri="{BB962C8B-B14F-4D97-AF65-F5344CB8AC3E}">
        <p14:creationId xmlns:p14="http://schemas.microsoft.com/office/powerpoint/2010/main" val="1300467312"/>
      </p:ext>
    </p:extLst>
  </p:cSld>
</p:sld>
</file>

<file path=ppt/slides/slide11.xml><?xml version="1.0" encoding="utf-8"?>
<p:sld xmlns:p="http://schemas.openxmlformats.org/presentationml/2006/main">
  <p:cSld>
    <p:bg>
      <p:bgPr>
        <a:solidFill xmlns:a="http://schemas.openxmlformats.org/drawingml/2006/main">
          <a:srgbClr val="FAF7ED"/>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357C7DA-4CC4-4297-BD10-67195EF1C385}"/>
              </a:ext>
            </a:extLst>
          </p:cNvPr>
          <p:cNvPicPr>
            <a:picLocks xmlns:a="http://schemas.openxmlformats.org/drawingml/2006/main" noChangeAspect="1"/>
          </p:cNvPicPr>
          <p:nvPr/>
        </p:nvPicPr>
        <p:blipFill>
          <a:blip xmlns:r="http://schemas.openxmlformats.org/officeDocument/2006/relationships" xmlns:a="http://schemas.openxmlformats.org/drawingml/2006/main" r:embed="Rbf685236f33e4866"/>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9825A6F-05D1-401B-B363-2834A574FF02}"/>
              </a:ext>
            </a:extLst>
          </p:cNvPr>
          <p:cNvPicPr>
            <a:picLocks xmlns:a="http://schemas.openxmlformats.org/drawingml/2006/main" noChangeAspect="1"/>
          </p:cNvPicPr>
          <p:nvPr/>
        </p:nvPicPr>
        <p:blipFill>
          <a:blip xmlns:r="http://schemas.openxmlformats.org/officeDocument/2006/relationships" xmlns:a="http://schemas.openxmlformats.org/drawingml/2006/main" r:embed="Rbf685236f33e4866"/>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sp>
        <p:nvSpPr>
          <p:cNvPr id="3" name="Team">
            <a:extLst xmlns:a="http://schemas.openxmlformats.org/drawingml/2006/main">
              <a:ext uri="{FF2B5EF4-FFF2-40B4-BE49-F238E27FC236}">
                <a16:creationId xmlns:a16="http://schemas.microsoft.com/office/drawing/2014/main" id="{59EDF1BF-6287-4391-9520-94ED318A6278}"/>
              </a:ext>
            </a:extLst>
          </p:cNvPr>
          <p:cNvSpPr>
            <a:spLocks xmlns:a="http://schemas.openxmlformats.org/drawingml/2006/main" noGrp="1"/>
          </p:cNvSpPr>
          <p:nvPr/>
        </p:nvSpPr>
        <p:spPr>
          <a:xfrm xmlns:a="http://schemas.openxmlformats.org/drawingml/2006/main">
            <a:off x="685800" y="45720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B1220"/>
                </a:solidFill>
                <a:latin typeface="Marcellus"/>
                <a:ea typeface="Marcellus"/>
                <a:cs typeface="Marcellus"/>
              </a:defRPr>
            </a:defPPr>
          </a:lstStyle>
          <a:p xmlns:a="http://schemas.openxmlformats.org/drawingml/2006/main">
            <a:pPr algn="l">
              <a:lnSpc>
                <a:spcPct val="112000"/>
              </a:lnSpc>
              <a:buNone/>
              <a:defRPr sz="4200" b="0">
                <a:solidFill>
                  <a:srgbClr val="0B1220"/>
                </a:solidFill>
                <a:latin typeface="Marcellus"/>
                <a:ea typeface="Marcellus"/>
                <a:cs typeface="Marcellus"/>
              </a:defRPr>
            </a:pPr>
            <a:r>
              <a:rPr sz="4200" b="0">
                <a:solidFill>
                  <a:srgbClr val="0B1220"/>
                </a:solidFill>
                <a:latin typeface="Marcellus"/>
                <a:ea typeface="Marcellus"/>
                <a:cs typeface="Marcellus"/>
              </a:rPr>
              <a:t>Team</a:t>
            </a:r>
          </a:p>
        </p:txBody>
      </p:sp>
      <p:pic>
        <p:nvPicPr>
          <p:cNvPr id="4" name="">
            <a:extLst xmlns:a="http://schemas.openxmlformats.org/drawingml/2006/main">
              <a:ext uri="{FF2B5EF4-FFF2-40B4-BE49-F238E27FC236}">
                <a16:creationId xmlns:a16="http://schemas.microsoft.com/office/drawing/2014/main" id="{E07C311E-C867-4CA5-9991-8ABED8AEE8D3}"/>
              </a:ext>
            </a:extLst>
          </p:cNvPr>
          <p:cNvPicPr>
            <a:picLocks xmlns:a="http://schemas.openxmlformats.org/drawingml/2006/main" noChangeAspect="1"/>
          </p:cNvPicPr>
          <p:nvPr/>
        </p:nvPicPr>
        <p:blipFill>
          <a:blip xmlns:r="http://schemas.openxmlformats.org/officeDocument/2006/relationships" xmlns:a="http://schemas.openxmlformats.org/drawingml/2006/main" r:embed="R01ae5a7daec04691"/>
          <a:stretch xmlns:a="http://schemas.openxmlformats.org/drawingml/2006/main"/>
        </p:blipFill>
        <p:spPr>
          <a:xfrm xmlns:a="http://schemas.openxmlformats.org/drawingml/2006/main">
            <a:off x="962025" y="2057400"/>
            <a:ext cx="2105025" cy="2105025"/>
          </a:xfrm>
          <a:prstGeom xmlns:a="http://schemas.openxmlformats.org/drawingml/2006/main" prst="rect">
            <a:avLst/>
          </a:prstGeom>
        </p:spPr>
      </p:pic>
      <p:sp>
        <p:nvSpPr>
          <p:cNvPr id="5" name="albary">
            <a:extLst xmlns:a="http://schemas.openxmlformats.org/drawingml/2006/main">
              <a:ext uri="{FF2B5EF4-FFF2-40B4-BE49-F238E27FC236}">
                <a16:creationId xmlns:a16="http://schemas.microsoft.com/office/drawing/2014/main" id="{A4C9E789-E175-4B68-910E-2001BD802BFD}"/>
              </a:ext>
            </a:extLst>
          </p:cNvPr>
          <p:cNvSpPr>
            <a:spLocks xmlns:a="http://schemas.openxmlformats.org/drawingml/2006/main" noGrp="1"/>
          </p:cNvSpPr>
          <p:nvPr/>
        </p:nvSpPr>
        <p:spPr>
          <a:xfrm xmlns:a="http://schemas.openxmlformats.org/drawingml/2006/main">
            <a:off x="3838575" y="2162175"/>
            <a:ext cx="6762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0">
                <a:solidFill>
                  <a:srgbClr val="0B1220"/>
                </a:solidFill>
                <a:latin typeface="Marcellus"/>
                <a:ea typeface="Marcellus"/>
                <a:cs typeface="Marcellus"/>
              </a:defRPr>
            </a:defPPr>
          </a:lstStyle>
          <a:p xmlns:a="http://schemas.openxmlformats.org/drawingml/2006/main">
            <a:pPr algn="l">
              <a:lnSpc>
                <a:spcPct val="112000"/>
              </a:lnSpc>
              <a:buNone/>
              <a:defRPr sz="5625" b="0">
                <a:solidFill>
                  <a:srgbClr val="0B1220"/>
                </a:solidFill>
                <a:latin typeface="Marcellus"/>
                <a:ea typeface="Marcellus"/>
                <a:cs typeface="Marcellus"/>
              </a:defRPr>
            </a:pPr>
            <a:r>
              <a:rPr sz="5625" b="0">
                <a:solidFill>
                  <a:srgbClr val="0B1220"/>
                </a:solidFill>
                <a:latin typeface="Marcellus"/>
                <a:ea typeface="Marcellus"/>
                <a:cs typeface="Marcellus"/>
              </a:rPr>
              <a:t>albary</a:t>
            </a:r>
          </a:p>
        </p:txBody>
      </p:sp>
      <p:sp>
        <p:nvSpPr>
          <p:cNvPr id="6" name="EndPx">
            <a:extLst xmlns:a="http://schemas.openxmlformats.org/drawingml/2006/main">
              <a:ext uri="{FF2B5EF4-FFF2-40B4-BE49-F238E27FC236}">
                <a16:creationId xmlns:a16="http://schemas.microsoft.com/office/drawing/2014/main" id="{8C658E87-9F1E-4BB2-AB8C-F1B722AAD9EE}"/>
              </a:ext>
            </a:extLst>
          </p:cNvPr>
          <p:cNvSpPr>
            <a:spLocks xmlns:a="http://schemas.openxmlformats.org/drawingml/2006/main" noGrp="1"/>
          </p:cNvSpPr>
          <p:nvPr/>
        </p:nvSpPr>
        <p:spPr>
          <a:xfrm xmlns:a="http://schemas.openxmlformats.org/drawingml/2006/main">
            <a:off x="3838575" y="3486150"/>
            <a:ext cx="676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8A6810"/>
                </a:solidFill>
                <a:latin typeface="Libre Franklin"/>
                <a:ea typeface="Libre Franklin"/>
                <a:cs typeface="Libre Franklin"/>
              </a:defRPr>
            </a:defPPr>
          </a:lstStyle>
          <a:p xmlns:a="http://schemas.openxmlformats.org/drawingml/2006/main">
            <a:pPr algn="l">
              <a:lnSpc>
                <a:spcPct val="112000"/>
              </a:lnSpc>
              <a:buNone/>
              <a:defRPr sz="2775" b="1">
                <a:solidFill>
                  <a:srgbClr val="8A6810"/>
                </a:solidFill>
                <a:latin typeface="Libre Franklin"/>
                <a:ea typeface="Libre Franklin"/>
                <a:cs typeface="Libre Franklin"/>
              </a:defRPr>
            </a:pPr>
            <a:r>
              <a:rPr sz="2775" b="1">
                <a:solidFill>
                  <a:srgbClr val="8A6810"/>
                </a:solidFill>
                <a:latin typeface="Libre Franklin"/>
                <a:ea typeface="Libre Franklin"/>
                <a:cs typeface="Libre Franklin"/>
              </a:rPr>
              <a:t>EndPx</a:t>
            </a:r>
          </a:p>
        </p:txBody>
      </p:sp>
      <p:sp>
        <p:nvSpPr>
          <p:cNvPr id="7" name="Product and implementation">
            <a:extLst xmlns:a="http://schemas.openxmlformats.org/drawingml/2006/main">
              <a:ext uri="{FF2B5EF4-FFF2-40B4-BE49-F238E27FC236}">
                <a16:creationId xmlns:a16="http://schemas.microsoft.com/office/drawing/2014/main" id="{120C8CAD-E610-4F74-BB71-6C302FE97ECA}"/>
              </a:ext>
            </a:extLst>
          </p:cNvPr>
          <p:cNvSpPr>
            <a:spLocks xmlns:a="http://schemas.openxmlformats.org/drawingml/2006/main" noGrp="1"/>
          </p:cNvSpPr>
          <p:nvPr/>
        </p:nvSpPr>
        <p:spPr>
          <a:xfrm xmlns:a="http://schemas.openxmlformats.org/drawingml/2006/main">
            <a:off x="3838575" y="4476750"/>
            <a:ext cx="752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B5F65"/>
                </a:solidFill>
                <a:latin typeface="Libre Franklin"/>
                <a:ea typeface="Libre Franklin"/>
                <a:cs typeface="Libre Franklin"/>
              </a:defRPr>
            </a:defPPr>
          </a:lstStyle>
          <a:p xmlns:a="http://schemas.openxmlformats.org/drawingml/2006/main">
            <a:pPr algn="l">
              <a:lnSpc>
                <a:spcPct val="112000"/>
              </a:lnSpc>
              <a:buNone/>
              <a:defRPr sz="2175" b="0">
                <a:solidFill>
                  <a:srgbClr val="5B5F65"/>
                </a:solidFill>
                <a:latin typeface="Libre Franklin"/>
                <a:ea typeface="Libre Franklin"/>
                <a:cs typeface="Libre Franklin"/>
              </a:defRPr>
            </a:pPr>
            <a:r>
              <a:rPr sz="2175" b="0">
                <a:solidFill>
                  <a:srgbClr val="5B5F65"/>
                </a:solidFill>
                <a:latin typeface="Libre Franklin"/>
                <a:ea typeface="Libre Franklin"/>
                <a:cs typeface="Libre Franklin"/>
              </a:rPr>
              <a:t>Product and implementation</a:t>
            </a:r>
          </a:p>
        </p:txBody>
      </p:sp>
      <p:sp>
        <p:nvSpPr>
          <p:cNvPr id="8" name="github.com/EndPx/symbolon">
            <a:extLst xmlns:a="http://schemas.openxmlformats.org/drawingml/2006/main">
              <a:ext uri="{FF2B5EF4-FFF2-40B4-BE49-F238E27FC236}">
                <a16:creationId xmlns:a16="http://schemas.microsoft.com/office/drawing/2014/main" id="{F5239ACC-C79B-4275-A1AC-90717E146E62}"/>
              </a:ext>
            </a:extLst>
          </p:cNvPr>
          <p:cNvSpPr>
            <a:spLocks xmlns:a="http://schemas.openxmlformats.org/drawingml/2006/main" noGrp="1"/>
          </p:cNvSpPr>
          <p:nvPr/>
        </p:nvSpPr>
        <p:spPr>
          <a:xfrm xmlns:a="http://schemas.openxmlformats.org/drawingml/2006/main">
            <a:off x="3838575" y="5343525"/>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B1220"/>
                </a:solidFill>
                <a:latin typeface="Libre Franklin"/>
                <a:ea typeface="Libre Franklin"/>
                <a:cs typeface="Libre Franklin"/>
              </a:defRPr>
            </a:defPPr>
          </a:lstStyle>
          <a:p xmlns:a="http://schemas.openxmlformats.org/drawingml/2006/main">
            <a:pPr algn="l">
              <a:lnSpc>
                <a:spcPct val="112000"/>
              </a:lnSpc>
              <a:buNone/>
              <a:defRPr sz="1725" b="0">
                <a:solidFill>
                  <a:srgbClr val="0B1220"/>
                </a:solidFill>
                <a:latin typeface="Libre Franklin"/>
                <a:ea typeface="Libre Franklin"/>
                <a:cs typeface="Libre Franklin"/>
              </a:defRPr>
            </a:pPr>
            <a:r>
              <a:rPr sz="1725" b="0">
                <a:solidFill>
                  <a:srgbClr val="0B1220"/>
                </a:solidFill>
                <a:latin typeface="Libre Franklin"/>
                <a:ea typeface="Libre Franklin"/>
                <a:cs typeface="Libre Franklin"/>
                <a:hlinkClick xmlns:r="http://schemas.openxmlformats.org/officeDocument/2006/relationships" r:id="Rded66ad937da4eea"/>
              </a:rPr>
              <a:t>github.com/EndPx/symbolon</a:t>
            </a:r>
          </a:p>
        </p:txBody>
      </p:sp>
    </p:spTree>
    <p:extLst>
      <p:ext uri="{BB962C8B-B14F-4D97-AF65-F5344CB8AC3E}">
        <p14:creationId xmlns:p14="http://schemas.microsoft.com/office/powerpoint/2010/main" val="1353490227"/>
      </p:ext>
    </p:extLst>
  </p:cSld>
</p:sld>
</file>

<file path=ppt/slides/slide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B08CE6E-1D1F-434E-BA0F-DB03D959D2A6}"/>
              </a:ext>
            </a:extLst>
          </p:cNvPr>
          <p:cNvPicPr>
            <a:picLocks xmlns:a="http://schemas.openxmlformats.org/drawingml/2006/main" noChangeAspect="1"/>
          </p:cNvPicPr>
          <p:nvPr/>
        </p:nvPicPr>
        <p:blipFill>
          <a:blip xmlns:r="http://schemas.openxmlformats.org/officeDocument/2006/relationships" xmlns:a="http://schemas.openxmlformats.org/drawingml/2006/main" r:embed="R66e83c674f14448b"/>
          <a:srcRect xmlns:a="http://schemas.openxmlformats.org/drawingml/2006/main" l="78000" t="0" r="0" b="65000"/>
          <a:stretch xmlns:a="http://schemas.openxmlformats.org/drawingml/2006/main"/>
        </p:blipFill>
        <p:spPr>
          <a:xfrm xmlns:a="http://schemas.openxmlformats.org/drawingml/2006/main">
            <a:off x="10096500" y="0"/>
            <a:ext cx="2095500" cy="17145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1806EF4-9D08-4EDD-911C-05F4DEAC52C8}"/>
              </a:ext>
            </a:extLst>
          </p:cNvPr>
          <p:cNvPicPr>
            <a:picLocks xmlns:a="http://schemas.openxmlformats.org/drawingml/2006/main" noChangeAspect="1"/>
          </p:cNvPicPr>
          <p:nvPr/>
        </p:nvPicPr>
        <p:blipFill>
          <a:blip xmlns:r="http://schemas.openxmlformats.org/officeDocument/2006/relationships" xmlns:a="http://schemas.openxmlformats.org/drawingml/2006/main" r:embed="R66e83c674f14448b"/>
          <a:srcRect xmlns:a="http://schemas.openxmlformats.org/drawingml/2006/main" l="0" t="63000" r="75000" b="0"/>
          <a:stretch xmlns:a="http://schemas.openxmlformats.org/drawingml/2006/main"/>
        </p:blipFill>
        <p:spPr>
          <a:xfrm xmlns:a="http://schemas.openxmlformats.org/drawingml/2006/main">
            <a:off x="0" y="5791200"/>
            <a:ext cx="1524000" cy="10668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04267390-5A85-40DB-B177-E33C8ACAA72B}"/>
              </a:ext>
            </a:extLst>
          </p:cNvPr>
          <p:cNvPicPr>
            <a:picLocks xmlns:a="http://schemas.openxmlformats.org/drawingml/2006/main" noChangeAspect="1"/>
          </p:cNvPicPr>
          <p:nvPr/>
        </p:nvPicPr>
        <p:blipFill>
          <a:blip xmlns:r="http://schemas.openxmlformats.org/officeDocument/2006/relationships" xmlns:a="http://schemas.openxmlformats.org/drawingml/2006/main" r:embed="R2ba137ed03df4c66"/>
          <a:stretch xmlns:a="http://schemas.openxmlformats.org/drawingml/2006/main"/>
        </p:blipFill>
        <p:spPr>
          <a:xfrm xmlns:a="http://schemas.openxmlformats.org/drawingml/2006/main">
            <a:off x="685800" y="723900"/>
            <a:ext cx="942975" cy="942975"/>
          </a:xfrm>
          <a:prstGeom xmlns:a="http://schemas.openxmlformats.org/drawingml/2006/main" prst="rect">
            <a:avLst/>
          </a:prstGeom>
        </p:spPr>
      </p:pic>
      <p:sp>
        <p:nvSpPr>
          <p:cNvPr id="4" name="Thank you">
            <a:extLst xmlns:a="http://schemas.openxmlformats.org/drawingml/2006/main">
              <a:ext uri="{FF2B5EF4-FFF2-40B4-BE49-F238E27FC236}">
                <a16:creationId xmlns:a16="http://schemas.microsoft.com/office/drawing/2014/main" id="{3D3EA70D-8713-48BC-95B6-E5072731C833}"/>
              </a:ext>
            </a:extLst>
          </p:cNvPr>
          <p:cNvSpPr>
            <a:spLocks xmlns:a="http://schemas.openxmlformats.org/drawingml/2006/main" noGrp="1"/>
          </p:cNvSpPr>
          <p:nvPr/>
        </p:nvSpPr>
        <p:spPr>
          <a:xfrm xmlns:a="http://schemas.openxmlformats.org/drawingml/2006/main">
            <a:off x="685800" y="2571750"/>
            <a:ext cx="5191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0">
                <a:solidFill>
                  <a:srgbClr val="F4E9CE"/>
                </a:solidFill>
                <a:latin typeface="Marcellus"/>
                <a:ea typeface="Marcellus"/>
                <a:cs typeface="Marcellus"/>
              </a:defRPr>
            </a:defPPr>
          </a:lstStyle>
          <a:p xmlns:a="http://schemas.openxmlformats.org/drawingml/2006/main">
            <a:pPr algn="l">
              <a:lnSpc>
                <a:spcPct val="112000"/>
              </a:lnSpc>
              <a:buNone/>
              <a:defRPr sz="5625" b="0">
                <a:solidFill>
                  <a:srgbClr val="F4E9CE"/>
                </a:solidFill>
                <a:latin typeface="Marcellus"/>
                <a:ea typeface="Marcellus"/>
                <a:cs typeface="Marcellus"/>
              </a:defRPr>
            </a:pPr>
            <a:r>
              <a:rPr sz="5625" b="0">
                <a:solidFill>
                  <a:srgbClr val="F4E9CE"/>
                </a:solidFill>
                <a:latin typeface="Marcellus"/>
                <a:ea typeface="Marcellus"/>
                <a:cs typeface="Marcellus"/>
              </a:rPr>
              <a:t>Thank you</a:t>
            </a:r>
          </a:p>
        </p:txBody>
      </p:sp>
      <p:sp>
        <p:nvSpPr>
          <p:cNvPr id="5" name="Symbolon">
            <a:extLst xmlns:a="http://schemas.openxmlformats.org/drawingml/2006/main">
              <a:ext uri="{FF2B5EF4-FFF2-40B4-BE49-F238E27FC236}">
                <a16:creationId xmlns:a16="http://schemas.microsoft.com/office/drawing/2014/main" id="{D7210297-5F68-47C1-B466-703104E692A8}"/>
              </a:ext>
            </a:extLst>
          </p:cNvPr>
          <p:cNvSpPr>
            <a:spLocks xmlns:a="http://schemas.openxmlformats.org/drawingml/2006/main" noGrp="1"/>
          </p:cNvSpPr>
          <p:nvPr/>
        </p:nvSpPr>
        <p:spPr>
          <a:xfrm xmlns:a="http://schemas.openxmlformats.org/drawingml/2006/main">
            <a:off x="685800" y="4181475"/>
            <a:ext cx="5000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4E9CE"/>
                </a:solidFill>
                <a:latin typeface="Marcellus"/>
                <a:ea typeface="Marcellus"/>
                <a:cs typeface="Marcellus"/>
              </a:defRPr>
            </a:defPPr>
          </a:lstStyle>
          <a:p xmlns:a="http://schemas.openxmlformats.org/drawingml/2006/main">
            <a:pPr algn="l">
              <a:lnSpc>
                <a:spcPct val="112000"/>
              </a:lnSpc>
              <a:buNone/>
              <a:defRPr sz="2925" b="0">
                <a:solidFill>
                  <a:srgbClr val="F4E9CE"/>
                </a:solidFill>
                <a:latin typeface="Marcellus"/>
                <a:ea typeface="Marcellus"/>
                <a:cs typeface="Marcellus"/>
              </a:defRPr>
            </a:pPr>
            <a:r>
              <a:rPr sz="2925" b="0">
                <a:solidFill>
                  <a:srgbClr val="F4E9CE"/>
                </a:solidFill>
                <a:latin typeface="Marcellus"/>
                <a:ea typeface="Marcellus"/>
                <a:cs typeface="Marcellus"/>
              </a:rPr>
              <a:t>Symbolon</a:t>
            </a:r>
          </a:p>
        </p:txBody>
      </p:sp>
      <p:sp>
        <p:nvSpPr>
          <p:cNvPr id="6" name="Know your repayment&#10;before settlemen">
            <a:extLst xmlns:a="http://schemas.openxmlformats.org/drawingml/2006/main">
              <a:ext uri="{FF2B5EF4-FFF2-40B4-BE49-F238E27FC236}">
                <a16:creationId xmlns:a16="http://schemas.microsoft.com/office/drawing/2014/main" id="{BCC2C472-D304-4BC3-B3F2-8335FA78B101}"/>
              </a:ext>
            </a:extLst>
          </p:cNvPr>
          <p:cNvSpPr>
            <a:spLocks xmlns:a="http://schemas.openxmlformats.org/drawingml/2006/main" noGrp="1"/>
          </p:cNvSpPr>
          <p:nvPr/>
        </p:nvSpPr>
        <p:spPr>
          <a:xfrm xmlns:a="http://schemas.openxmlformats.org/drawingml/2006/main">
            <a:off x="685800" y="4962525"/>
            <a:ext cx="5010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9A227"/>
                </a:solidFill>
                <a:latin typeface="Libre Franklin"/>
                <a:ea typeface="Libre Franklin"/>
                <a:cs typeface="Libre Franklin"/>
              </a:defRPr>
            </a:defPPr>
          </a:lstStyle>
          <a:p xmlns:a="http://schemas.openxmlformats.org/drawingml/2006/main">
            <a:pPr algn="l">
              <a:lnSpc>
                <a:spcPct val="112000"/>
              </a:lnSpc>
              <a:buNone/>
              <a:defRPr sz="2100" b="0">
                <a:solidFill>
                  <a:srgbClr val="C9A227"/>
                </a:solidFill>
                <a:latin typeface="Libre Franklin"/>
                <a:ea typeface="Libre Franklin"/>
                <a:cs typeface="Libre Franklin"/>
              </a:defRPr>
            </a:pPr>
            <a:r>
              <a:rPr sz="2100" b="0">
                <a:solidFill>
                  <a:srgbClr val="C9A227"/>
                </a:solidFill>
                <a:latin typeface="Libre Franklin"/>
                <a:ea typeface="Libre Franklin"/>
                <a:cs typeface="Libre Franklin"/>
              </a:rPr>
              <a:t>Know your repayment</a:t>
            </a:r>
          </a:p>
          <a:p xmlns:a="http://schemas.openxmlformats.org/drawingml/2006/main">
            <a:pPr algn="l">
              <a:lnSpc>
                <a:spcPct val="112000"/>
              </a:lnSpc>
              <a:buNone/>
              <a:defRPr sz="2100" b="0">
                <a:solidFill>
                  <a:srgbClr val="C9A227"/>
                </a:solidFill>
                <a:latin typeface="Libre Franklin"/>
                <a:ea typeface="Libre Franklin"/>
                <a:cs typeface="Libre Franklin"/>
              </a:defRPr>
            </a:pPr>
            <a:r>
              <a:rPr sz="2100" b="0">
                <a:solidFill>
                  <a:srgbClr val="C9A227"/>
                </a:solidFill>
                <a:latin typeface="Libre Franklin"/>
                <a:ea typeface="Libre Franklin"/>
                <a:cs typeface="Libre Franklin"/>
              </a:rPr>
              <a:t>before settlement.</a:t>
            </a:r>
          </a:p>
        </p:txBody>
      </p:sp>
      <p:sp>
        <p:nvSpPr>
          <p:cNvPr id="7" name="Try the app">
            <a:extLst xmlns:a="http://schemas.openxmlformats.org/drawingml/2006/main">
              <a:ext uri="{FF2B5EF4-FFF2-40B4-BE49-F238E27FC236}">
                <a16:creationId xmlns:a16="http://schemas.microsoft.com/office/drawing/2014/main" id="{7A5BADAE-2267-4C51-818E-1D7087B5442B}"/>
              </a:ext>
            </a:extLst>
          </p:cNvPr>
          <p:cNvSpPr>
            <a:spLocks xmlns:a="http://schemas.openxmlformats.org/drawingml/2006/main" noGrp="1"/>
          </p:cNvSpPr>
          <p:nvPr/>
        </p:nvSpPr>
        <p:spPr>
          <a:xfrm xmlns:a="http://schemas.openxmlformats.org/drawingml/2006/main">
            <a:off x="5857875" y="2143125"/>
            <a:ext cx="179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4E9CE"/>
                </a:solidFill>
                <a:latin typeface="Libre Franklin"/>
                <a:ea typeface="Libre Franklin"/>
                <a:cs typeface="Libre Franklin"/>
              </a:defRPr>
            </a:defPPr>
          </a:lstStyle>
          <a:p xmlns:a="http://schemas.openxmlformats.org/drawingml/2006/main">
            <a:pPr algn="ctr">
              <a:lnSpc>
                <a:spcPct val="112000"/>
              </a:lnSpc>
              <a:buNone/>
              <a:defRPr sz="2100" b="1">
                <a:solidFill>
                  <a:srgbClr val="F4E9CE"/>
                </a:solidFill>
                <a:latin typeface="Libre Franklin"/>
                <a:ea typeface="Libre Franklin"/>
                <a:cs typeface="Libre Franklin"/>
              </a:defRPr>
            </a:pPr>
            <a:r>
              <a:rPr sz="2100" b="1">
                <a:solidFill>
                  <a:srgbClr val="F4E9CE"/>
                </a:solidFill>
                <a:latin typeface="Libre Franklin"/>
                <a:ea typeface="Libre Franklin"/>
                <a:cs typeface="Libre Franklin"/>
              </a:rPr>
              <a:t>Try the app</a:t>
            </a:r>
          </a:p>
        </p:txBody>
      </p:sp>
      <p:pic>
        <p:nvPicPr>
          <p:cNvPr id="8" name="">
            <a:extLst xmlns:a="http://schemas.openxmlformats.org/drawingml/2006/main">
              <a:ext uri="{FF2B5EF4-FFF2-40B4-BE49-F238E27FC236}">
                <a16:creationId xmlns:a16="http://schemas.microsoft.com/office/drawing/2014/main" id="{DD9A16E3-FE9A-4BF7-92BF-1836EA802CBE}"/>
              </a:ext>
            </a:extLst>
          </p:cNvPr>
          <p:cNvPicPr>
            <a:picLocks xmlns:a="http://schemas.openxmlformats.org/drawingml/2006/main" noChangeAspect="1"/>
          </p:cNvPicPr>
          <p:nvPr/>
        </p:nvPicPr>
        <p:blipFill>
          <a:blip xmlns:r="http://schemas.openxmlformats.org/officeDocument/2006/relationships" xmlns:a="http://schemas.openxmlformats.org/drawingml/2006/main" r:embed="R35b1df123c11490f"/>
          <a:stretch xmlns:a="http://schemas.openxmlformats.org/drawingml/2006/main"/>
        </p:blipFill>
        <p:spPr>
          <a:xfrm xmlns:a="http://schemas.openxmlformats.org/drawingml/2006/main">
            <a:off x="5857875" y="2800350"/>
            <a:ext cx="1790700" cy="1790700"/>
          </a:xfrm>
          <a:prstGeom xmlns:a="http://schemas.openxmlformats.org/drawingml/2006/main" prst="rect">
            <a:avLst/>
          </a:prstGeom>
        </p:spPr>
      </p:pic>
      <p:sp>
        <p:nvSpPr>
          <p:cNvPr id="9" name="symbolon.endpx.cloud/&#10;app">
            <a:extLst xmlns:a="http://schemas.openxmlformats.org/drawingml/2006/main">
              <a:ext uri="{FF2B5EF4-FFF2-40B4-BE49-F238E27FC236}">
                <a16:creationId xmlns:a16="http://schemas.microsoft.com/office/drawing/2014/main" id="{F7272F6C-FFC9-4F21-8148-00E647680B1B}"/>
              </a:ext>
            </a:extLst>
          </p:cNvPr>
          <p:cNvSpPr>
            <a:spLocks xmlns:a="http://schemas.openxmlformats.org/drawingml/2006/main" noGrp="1"/>
          </p:cNvSpPr>
          <p:nvPr/>
        </p:nvSpPr>
        <p:spPr>
          <a:xfrm xmlns:a="http://schemas.openxmlformats.org/drawingml/2006/main">
            <a:off x="5800725" y="4991100"/>
            <a:ext cx="1905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C9A227"/>
                </a:solidFill>
                <a:latin typeface="Libre Franklin"/>
                <a:ea typeface="Libre Franklin"/>
                <a:cs typeface="Libre Franklin"/>
              </a:defRPr>
            </a:defPPr>
          </a:lstStyle>
          <a:p xmlns:a="http://schemas.openxmlformats.org/drawingml/2006/main">
            <a:pPr algn="ctr">
              <a:lnSpc>
                <a:spcPct val="112000"/>
              </a:lnSpc>
              <a:buNone/>
              <a:defRPr sz="1350" b="0">
                <a:solidFill>
                  <a:srgbClr val="C9A227"/>
                </a:solidFill>
                <a:latin typeface="Libre Franklin"/>
                <a:ea typeface="Libre Franklin"/>
                <a:cs typeface="Libre Franklin"/>
              </a:defRPr>
            </a:pPr>
            <a:r>
              <a:rPr sz="1350" b="0">
                <a:solidFill>
                  <a:srgbClr val="C9A227"/>
                </a:solidFill>
                <a:latin typeface="Libre Franklin"/>
                <a:ea typeface="Libre Franklin"/>
                <a:cs typeface="Libre Franklin"/>
                <a:hlinkClick xmlns:r="http://schemas.openxmlformats.org/officeDocument/2006/relationships" r:id="R78b7641ff07e4912"/>
              </a:rPr>
              <a:t>symbolon.endpx.cloud/</a:t>
            </a:r>
          </a:p>
          <a:p xmlns:a="http://schemas.openxmlformats.org/drawingml/2006/main">
            <a:pPr algn="ctr">
              <a:lnSpc>
                <a:spcPct val="112000"/>
              </a:lnSpc>
              <a:buNone/>
              <a:defRPr sz="1350" b="0">
                <a:solidFill>
                  <a:srgbClr val="C9A227"/>
                </a:solidFill>
                <a:latin typeface="Libre Franklin"/>
                <a:ea typeface="Libre Franklin"/>
                <a:cs typeface="Libre Franklin"/>
              </a:defRPr>
            </a:pPr>
            <a:r>
              <a:rPr sz="1350" b="0">
                <a:solidFill>
                  <a:srgbClr val="C9A227"/>
                </a:solidFill>
                <a:latin typeface="Libre Franklin"/>
                <a:ea typeface="Libre Franklin"/>
                <a:cs typeface="Libre Franklin"/>
                <a:hlinkClick xmlns:r="http://schemas.openxmlformats.org/officeDocument/2006/relationships" r:id="Rffe73cc3d1074353"/>
              </a:rPr>
              <a:t>app</a:t>
            </a:r>
          </a:p>
        </p:txBody>
      </p:sp>
      <p:sp>
        <p:nvSpPr>
          <p:cNvPr id="10" name="GitHub">
            <a:extLst xmlns:a="http://schemas.openxmlformats.org/drawingml/2006/main">
              <a:ext uri="{FF2B5EF4-FFF2-40B4-BE49-F238E27FC236}">
                <a16:creationId xmlns:a16="http://schemas.microsoft.com/office/drawing/2014/main" id="{03ACF364-B226-4033-99E5-E0ECF6EC9DB0}"/>
              </a:ext>
            </a:extLst>
          </p:cNvPr>
          <p:cNvSpPr>
            <a:spLocks xmlns:a="http://schemas.openxmlformats.org/drawingml/2006/main" noGrp="1"/>
          </p:cNvSpPr>
          <p:nvPr/>
        </p:nvSpPr>
        <p:spPr>
          <a:xfrm xmlns:a="http://schemas.openxmlformats.org/drawingml/2006/main">
            <a:off x="7820025" y="2143125"/>
            <a:ext cx="179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4E9CE"/>
                </a:solidFill>
                <a:latin typeface="Libre Franklin"/>
                <a:ea typeface="Libre Franklin"/>
                <a:cs typeface="Libre Franklin"/>
              </a:defRPr>
            </a:defPPr>
          </a:lstStyle>
          <a:p xmlns:a="http://schemas.openxmlformats.org/drawingml/2006/main">
            <a:pPr algn="ctr">
              <a:lnSpc>
                <a:spcPct val="112000"/>
              </a:lnSpc>
              <a:buNone/>
              <a:defRPr sz="2100" b="1">
                <a:solidFill>
                  <a:srgbClr val="F4E9CE"/>
                </a:solidFill>
                <a:latin typeface="Libre Franklin"/>
                <a:ea typeface="Libre Franklin"/>
                <a:cs typeface="Libre Franklin"/>
              </a:defRPr>
            </a:pPr>
            <a:r>
              <a:rPr sz="2100" b="1">
                <a:solidFill>
                  <a:srgbClr val="F4E9CE"/>
                </a:solidFill>
                <a:latin typeface="Libre Franklin"/>
                <a:ea typeface="Libre Franklin"/>
                <a:cs typeface="Libre Franklin"/>
              </a:rPr>
              <a:t>GitHub</a:t>
            </a:r>
          </a:p>
        </p:txBody>
      </p:sp>
      <p:pic>
        <p:nvPicPr>
          <p:cNvPr id="11" name="">
            <a:extLst xmlns:a="http://schemas.openxmlformats.org/drawingml/2006/main">
              <a:ext uri="{FF2B5EF4-FFF2-40B4-BE49-F238E27FC236}">
                <a16:creationId xmlns:a16="http://schemas.microsoft.com/office/drawing/2014/main" id="{19B21B00-F25E-4292-B116-2C56D16465A8}"/>
              </a:ext>
            </a:extLst>
          </p:cNvPr>
          <p:cNvPicPr>
            <a:picLocks xmlns:a="http://schemas.openxmlformats.org/drawingml/2006/main" noChangeAspect="1"/>
          </p:cNvPicPr>
          <p:nvPr/>
        </p:nvPicPr>
        <p:blipFill>
          <a:blip xmlns:r="http://schemas.openxmlformats.org/officeDocument/2006/relationships" xmlns:a="http://schemas.openxmlformats.org/drawingml/2006/main" r:embed="R61ba8701ec57445c"/>
          <a:stretch xmlns:a="http://schemas.openxmlformats.org/drawingml/2006/main"/>
        </p:blipFill>
        <p:spPr>
          <a:xfrm xmlns:a="http://schemas.openxmlformats.org/drawingml/2006/main">
            <a:off x="7820025" y="2800350"/>
            <a:ext cx="1790700" cy="1790700"/>
          </a:xfrm>
          <a:prstGeom xmlns:a="http://schemas.openxmlformats.org/drawingml/2006/main" prst="rect">
            <a:avLst/>
          </a:prstGeom>
        </p:spPr>
      </p:pic>
      <p:sp>
        <p:nvSpPr>
          <p:cNvPr id="12" name="github.com/EndPx/&#10;symbolon">
            <a:extLst xmlns:a="http://schemas.openxmlformats.org/drawingml/2006/main">
              <a:ext uri="{FF2B5EF4-FFF2-40B4-BE49-F238E27FC236}">
                <a16:creationId xmlns:a16="http://schemas.microsoft.com/office/drawing/2014/main" id="{F0016FCE-0FC3-4D4E-8069-61739E5A3A0A}"/>
              </a:ext>
            </a:extLst>
          </p:cNvPr>
          <p:cNvSpPr>
            <a:spLocks xmlns:a="http://schemas.openxmlformats.org/drawingml/2006/main" noGrp="1"/>
          </p:cNvSpPr>
          <p:nvPr/>
        </p:nvSpPr>
        <p:spPr>
          <a:xfrm xmlns:a="http://schemas.openxmlformats.org/drawingml/2006/main">
            <a:off x="7762875" y="4991100"/>
            <a:ext cx="1905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C9A227"/>
                </a:solidFill>
                <a:latin typeface="Libre Franklin"/>
                <a:ea typeface="Libre Franklin"/>
                <a:cs typeface="Libre Franklin"/>
              </a:defRPr>
            </a:defPPr>
          </a:lstStyle>
          <a:p xmlns:a="http://schemas.openxmlformats.org/drawingml/2006/main">
            <a:pPr algn="ctr">
              <a:lnSpc>
                <a:spcPct val="112000"/>
              </a:lnSpc>
              <a:buNone/>
              <a:defRPr sz="1350" b="0">
                <a:solidFill>
                  <a:srgbClr val="C9A227"/>
                </a:solidFill>
                <a:latin typeface="Libre Franklin"/>
                <a:ea typeface="Libre Franklin"/>
                <a:cs typeface="Libre Franklin"/>
              </a:defRPr>
            </a:pPr>
            <a:r>
              <a:rPr sz="1350" b="0">
                <a:solidFill>
                  <a:srgbClr val="C9A227"/>
                </a:solidFill>
                <a:latin typeface="Libre Franklin"/>
                <a:ea typeface="Libre Franklin"/>
                <a:cs typeface="Libre Franklin"/>
                <a:hlinkClick xmlns:r="http://schemas.openxmlformats.org/officeDocument/2006/relationships" r:id="R3ef7d07a38c74aeb"/>
              </a:rPr>
              <a:t>github.com/EndPx/</a:t>
            </a:r>
          </a:p>
          <a:p xmlns:a="http://schemas.openxmlformats.org/drawingml/2006/main">
            <a:pPr algn="ctr">
              <a:lnSpc>
                <a:spcPct val="112000"/>
              </a:lnSpc>
              <a:buNone/>
              <a:defRPr sz="1350" b="0">
                <a:solidFill>
                  <a:srgbClr val="C9A227"/>
                </a:solidFill>
                <a:latin typeface="Libre Franklin"/>
                <a:ea typeface="Libre Franklin"/>
                <a:cs typeface="Libre Franklin"/>
              </a:defRPr>
            </a:pPr>
            <a:r>
              <a:rPr sz="1350" b="0">
                <a:solidFill>
                  <a:srgbClr val="C9A227"/>
                </a:solidFill>
                <a:latin typeface="Libre Franklin"/>
                <a:ea typeface="Libre Franklin"/>
                <a:cs typeface="Libre Franklin"/>
                <a:hlinkClick xmlns:r="http://schemas.openxmlformats.org/officeDocument/2006/relationships" r:id="R63a3bcab1d944edd"/>
              </a:rPr>
              <a:t>symbolon</a:t>
            </a:r>
          </a:p>
        </p:txBody>
      </p:sp>
      <p:sp>
        <p:nvSpPr>
          <p:cNvPr id="13" name="Docs">
            <a:extLst xmlns:a="http://schemas.openxmlformats.org/drawingml/2006/main">
              <a:ext uri="{FF2B5EF4-FFF2-40B4-BE49-F238E27FC236}">
                <a16:creationId xmlns:a16="http://schemas.microsoft.com/office/drawing/2014/main" id="{015248E4-684D-4877-AAD1-3C20B5828CB4}"/>
              </a:ext>
            </a:extLst>
          </p:cNvPr>
          <p:cNvSpPr>
            <a:spLocks xmlns:a="http://schemas.openxmlformats.org/drawingml/2006/main" noGrp="1"/>
          </p:cNvSpPr>
          <p:nvPr/>
        </p:nvSpPr>
        <p:spPr>
          <a:xfrm xmlns:a="http://schemas.openxmlformats.org/drawingml/2006/main">
            <a:off x="9782175" y="2143125"/>
            <a:ext cx="179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4E9CE"/>
                </a:solidFill>
                <a:latin typeface="Libre Franklin"/>
                <a:ea typeface="Libre Franklin"/>
                <a:cs typeface="Libre Franklin"/>
              </a:defRPr>
            </a:defPPr>
          </a:lstStyle>
          <a:p xmlns:a="http://schemas.openxmlformats.org/drawingml/2006/main">
            <a:pPr algn="ctr">
              <a:lnSpc>
                <a:spcPct val="112000"/>
              </a:lnSpc>
              <a:buNone/>
              <a:defRPr sz="2100" b="1">
                <a:solidFill>
                  <a:srgbClr val="F4E9CE"/>
                </a:solidFill>
                <a:latin typeface="Libre Franklin"/>
                <a:ea typeface="Libre Franklin"/>
                <a:cs typeface="Libre Franklin"/>
              </a:defRPr>
            </a:pPr>
            <a:r>
              <a:rPr sz="2100" b="1">
                <a:solidFill>
                  <a:srgbClr val="F4E9CE"/>
                </a:solidFill>
                <a:latin typeface="Libre Franklin"/>
                <a:ea typeface="Libre Franklin"/>
                <a:cs typeface="Libre Franklin"/>
              </a:rPr>
              <a:t>Docs</a:t>
            </a:r>
          </a:p>
        </p:txBody>
      </p:sp>
      <p:pic>
        <p:nvPicPr>
          <p:cNvPr id="14" name="">
            <a:extLst xmlns:a="http://schemas.openxmlformats.org/drawingml/2006/main">
              <a:ext uri="{FF2B5EF4-FFF2-40B4-BE49-F238E27FC236}">
                <a16:creationId xmlns:a16="http://schemas.microsoft.com/office/drawing/2014/main" id="{982E4C3F-9D4E-408A-AAD8-324584B25C3A}"/>
              </a:ext>
            </a:extLst>
          </p:cNvPr>
          <p:cNvPicPr>
            <a:picLocks xmlns:a="http://schemas.openxmlformats.org/drawingml/2006/main" noChangeAspect="1"/>
          </p:cNvPicPr>
          <p:nvPr/>
        </p:nvPicPr>
        <p:blipFill>
          <a:blip xmlns:r="http://schemas.openxmlformats.org/officeDocument/2006/relationships" xmlns:a="http://schemas.openxmlformats.org/drawingml/2006/main" r:embed="R13532a4bbd9f4d74"/>
          <a:stretch xmlns:a="http://schemas.openxmlformats.org/drawingml/2006/main"/>
        </p:blipFill>
        <p:spPr>
          <a:xfrm xmlns:a="http://schemas.openxmlformats.org/drawingml/2006/main">
            <a:off x="9782175" y="2800350"/>
            <a:ext cx="1790700" cy="1790700"/>
          </a:xfrm>
          <a:prstGeom xmlns:a="http://schemas.openxmlformats.org/drawingml/2006/main" prst="rect">
            <a:avLst/>
          </a:prstGeom>
        </p:spPr>
      </p:pic>
      <p:sp>
        <p:nvSpPr>
          <p:cNvPr id="15" name="symbolon.gitbook.io/&#10;symbolon-docs">
            <a:extLst xmlns:a="http://schemas.openxmlformats.org/drawingml/2006/main">
              <a:ext uri="{FF2B5EF4-FFF2-40B4-BE49-F238E27FC236}">
                <a16:creationId xmlns:a16="http://schemas.microsoft.com/office/drawing/2014/main" id="{6330ACFA-B3E5-4C57-B114-0AA2A2812C33}"/>
              </a:ext>
            </a:extLst>
          </p:cNvPr>
          <p:cNvSpPr>
            <a:spLocks xmlns:a="http://schemas.openxmlformats.org/drawingml/2006/main" noGrp="1"/>
          </p:cNvSpPr>
          <p:nvPr/>
        </p:nvSpPr>
        <p:spPr>
          <a:xfrm xmlns:a="http://schemas.openxmlformats.org/drawingml/2006/main">
            <a:off x="9725025" y="4991100"/>
            <a:ext cx="1905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C9A227"/>
                </a:solidFill>
                <a:latin typeface="Libre Franklin"/>
                <a:ea typeface="Libre Franklin"/>
                <a:cs typeface="Libre Franklin"/>
              </a:defRPr>
            </a:defPPr>
          </a:lstStyle>
          <a:p xmlns:a="http://schemas.openxmlformats.org/drawingml/2006/main">
            <a:pPr algn="ctr">
              <a:lnSpc>
                <a:spcPct val="112000"/>
              </a:lnSpc>
              <a:buNone/>
              <a:defRPr sz="1350" b="0">
                <a:solidFill>
                  <a:srgbClr val="C9A227"/>
                </a:solidFill>
                <a:latin typeface="Libre Franklin"/>
                <a:ea typeface="Libre Franklin"/>
                <a:cs typeface="Libre Franklin"/>
              </a:defRPr>
            </a:pPr>
            <a:r>
              <a:rPr sz="1350" b="0">
                <a:solidFill>
                  <a:srgbClr val="C9A227"/>
                </a:solidFill>
                <a:latin typeface="Libre Franklin"/>
                <a:ea typeface="Libre Franklin"/>
                <a:cs typeface="Libre Franklin"/>
                <a:hlinkClick xmlns:r="http://schemas.openxmlformats.org/officeDocument/2006/relationships" r:id="R66b09e46fbd043a1"/>
              </a:rPr>
              <a:t>symbolon.gitbook.io/</a:t>
            </a:r>
          </a:p>
          <a:p xmlns:a="http://schemas.openxmlformats.org/drawingml/2006/main">
            <a:pPr algn="ctr">
              <a:lnSpc>
                <a:spcPct val="112000"/>
              </a:lnSpc>
              <a:buNone/>
              <a:defRPr sz="1350" b="0">
                <a:solidFill>
                  <a:srgbClr val="C9A227"/>
                </a:solidFill>
                <a:latin typeface="Libre Franklin"/>
                <a:ea typeface="Libre Franklin"/>
                <a:cs typeface="Libre Franklin"/>
              </a:defRPr>
            </a:pPr>
            <a:r>
              <a:rPr sz="1350" b="0">
                <a:solidFill>
                  <a:srgbClr val="C9A227"/>
                </a:solidFill>
                <a:latin typeface="Libre Franklin"/>
                <a:ea typeface="Libre Franklin"/>
                <a:cs typeface="Libre Franklin"/>
                <a:hlinkClick xmlns:r="http://schemas.openxmlformats.org/officeDocument/2006/relationships" r:id="Rb1c3d3921cde4245"/>
              </a:rPr>
              <a:t>symbolon-docs</a:t>
            </a:r>
          </a:p>
        </p:txBody>
      </p:sp>
    </p:spTree>
    <p:extLst>
      <p:ext uri="{BB962C8B-B14F-4D97-AF65-F5344CB8AC3E}">
        <p14:creationId xmlns:p14="http://schemas.microsoft.com/office/powerpoint/2010/main" val="15519125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2026-10-09T21:37:39.4620000Z</dcterms:created>
  <dcterms:modified xsi:type="dcterms:W3CDTF">2026-10-09T21:37:39.4620000Z</dcterms:modified>
</coreProperties>
</file>