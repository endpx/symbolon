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0adaaa3b94c54" /><Relationship Type="http://schemas.openxmlformats.org/officeDocument/2006/relationships/extended-properties" Target="/docProps/app.xml" Id="R18e0a51541f4459e" /><Relationship Type="http://schemas.openxmlformats.org/officeDocument/2006/relationships/officeDocument" Target="/ppt/presentation.xml" Id="R1ac8e7021c2346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b9eea15f684a46"/>
  </p:sldMasterIdLst>
  <p:notesMasterIdLst>
    <p:notesMasterId xmlns:r="http://schemas.openxmlformats.org/officeDocument/2006/relationships" r:id="R56a35d9680124894"/>
  </p:notesMasterIdLst>
  <p:sldIdLst>
    <p:sldId xmlns:r="http://schemas.openxmlformats.org/officeDocument/2006/relationships" id="256" r:id="Rfbf6ba48a7164d5e"/>
    <p:sldId xmlns:r="http://schemas.openxmlformats.org/officeDocument/2006/relationships" id="257" r:id="R9ce8380283374e31"/>
    <p:sldId xmlns:r="http://schemas.openxmlformats.org/officeDocument/2006/relationships" id="258" r:id="R754a36f919f54950"/>
    <p:sldId xmlns:r="http://schemas.openxmlformats.org/officeDocument/2006/relationships" id="259" r:id="R2e992f8a694f47ee"/>
    <p:sldId xmlns:r="http://schemas.openxmlformats.org/officeDocument/2006/relationships" id="260" r:id="R18d902271587430b"/>
    <p:sldId xmlns:r="http://schemas.openxmlformats.org/officeDocument/2006/relationships" id="261" r:id="R96dda19595bc44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89ebb97f04699" /><Relationship Type="http://schemas.openxmlformats.org/officeDocument/2006/relationships/slideMaster" Target="/ppt/slideMasters/slideMaster1.xml" Id="R58b9eea15f684a46" /><Relationship Type="http://schemas.openxmlformats.org/officeDocument/2006/relationships/notesMaster" Target="/ppt/notesMasters/notesMaster1.xml" Id="R56a35d9680124894" /><Relationship Type="http://schemas.openxmlformats.org/officeDocument/2006/relationships/presProps" Target="/ppt/presProps.xml" Id="R66d4d15846ed4f57" /><Relationship Type="http://schemas.openxmlformats.org/officeDocument/2006/relationships/tableStyles" Target="/ppt/tableStyles.xml" Id="Rb9d5f63c033a42a7" /><Relationship Type="http://schemas.openxmlformats.org/officeDocument/2006/relationships/slide" Target="/ppt/slides/slide1.xml" Id="Rfbf6ba48a7164d5e" /><Relationship Type="http://schemas.openxmlformats.org/officeDocument/2006/relationships/slide" Target="/ppt/slides/slide2.xml" Id="R9ce8380283374e31" /><Relationship Type="http://schemas.openxmlformats.org/officeDocument/2006/relationships/slide" Target="/ppt/slides/slide3.xml" Id="R754a36f919f54950" /><Relationship Type="http://schemas.openxmlformats.org/officeDocument/2006/relationships/slide" Target="/ppt/slides/slide4.xml" Id="R2e992f8a694f47ee" /><Relationship Type="http://schemas.openxmlformats.org/officeDocument/2006/relationships/slide" Target="/ppt/slides/slide5.xml" Id="R18d902271587430b" /><Relationship Type="http://schemas.openxmlformats.org/officeDocument/2006/relationships/slide" Target="/ppt/slides/slide6.xml" Id="R96dda19595bc44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04865c012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071bc508b74826" /><Relationship Type="http://schemas.openxmlformats.org/officeDocument/2006/relationships/notesMaster" Target="/ppt/notesMasters/notesMaster1.xml" Id="R76346f076038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f545df0c140fb" /><Relationship Type="http://schemas.openxmlformats.org/officeDocument/2006/relationships/notesMaster" Target="/ppt/notesMasters/notesMaster1.xml" Id="R19903c8ebfc2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8bd98952594b5d" /><Relationship Type="http://schemas.openxmlformats.org/officeDocument/2006/relationships/notesMaster" Target="/ppt/notesMasters/notesMaster1.xml" Id="R509ba6233a9143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fec452da384e01" /><Relationship Type="http://schemas.openxmlformats.org/officeDocument/2006/relationships/notesMaster" Target="/ppt/notesMasters/notesMaster1.xml" Id="R8e408fea14734e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14fff1aa5493e" /><Relationship Type="http://schemas.openxmlformats.org/officeDocument/2006/relationships/notesMaster" Target="/ppt/notesMasters/notesMaster1.xml" Id="R8a6c96b874b9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f837a6400b4ebe" /><Relationship Type="http://schemas.openxmlformats.org/officeDocument/2006/relationships/notesMaster" Target="/ppt/notesMasters/notesMaster1.xml" Id="Rf9f2c46bb0a249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brand artwork from web/public/brand/hero.png. This is a working simulated-asset prototype. The intended real pair is cBTC/USDCx. Presenter's source: README and docs/submission/pitch.md.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profile remains a hypothesis: no customer interviews or external users. Privacy is party-scoped; the trusted demo issuer and shared participant operator remain trust dependencies. Sources: docs/gitbook/introduction and architecture/privacy-and-trust.md.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terms also executed on local Canton using simulated CUSD/CETH. ACT/360: 1000*(1+0.052*30/360)=1004.3333333333 at Numeric 10. Full-price early repurchase has no rebate. Source: Repo.daml and local HTTP evidence at offsets 261-336 on 2026-10-05.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Simulated CETH example from local Canton: 15*100/(1000*1.05)=1.428571, then 15*60/1050=0.857143; 18*60/1050=1.028571. Display rounds health factor to 2 decimals. The repurchase amount stays fixed. Liquidation requires an expired call plus a fresh post-cure mark. No sale or realized surplus accounting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DecMan GovernableAction interface at pinned commit 21ffdedf64366b1f2824301c434b427bf4726663. Source https://github.com/DLC-link/decentralization-manager/blob/hackathon/docs/CUSTOM_DAML_TEMPLATES.md . Two Daml scripts pass; single participant live threshold proof passed at offsets 202-261. The official three-node run passed on revision d261376: https://github.com/EndPx/symbolon/actions/runs/37341484064 . Governance approval does not establish price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v0.2.0 has 11 core scripts, 2 BitSafe scripts, 27 frontend tests, a native local lifecycle, and 19 actual frontend HTTP submissions. These are engineering evidence, not market demand. MainNet is blocked: official cBTC/USDCx adapters, canonical oracle lineage, closeout surplus/shortfall, wallet and operator review remain. Runtime configs promote the same JS/CSS and reviewed DAR once DevNet verification has completed. Pre-existing Aug28 work disclosed.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a43ea7f2b44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f57bb653234109" /><Relationship Type="http://schemas.openxmlformats.org/officeDocument/2006/relationships/slideLayout" Target="/ppt/slideLayouts/slideLayout1.xml" Id="R501b1f1e7b4d4f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b1f1e7b4d4f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42913e19e4a1c" /><Relationship Type="http://schemas.openxmlformats.org/officeDocument/2006/relationships/image" Target="/ppt/media/image.png" Id="R9eddc3ef951b4c88" /><Relationship Type="http://schemas.openxmlformats.org/officeDocument/2006/relationships/notesSlide" Target="/ppt/notesSlides/notesSlide1.xml" Id="Rf116171cbe6a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cbe28b5948d4" /><Relationship Type="http://schemas.openxmlformats.org/officeDocument/2006/relationships/notesSlide" Target="/ppt/notesSlides/notesSlide2.xml" Id="Re11db271c675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ea63b14af4946" /><Relationship Type="http://schemas.openxmlformats.org/officeDocument/2006/relationships/notesSlide" Target="/ppt/notesSlides/notesSlide3.xml" Id="R0df80c390d8f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9b63571b14b0a" /><Relationship Type="http://schemas.openxmlformats.org/officeDocument/2006/relationships/notesSlide" Target="/ppt/notesSlides/notesSlide4.xml" Id="Rc1a60de633e148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7acbf43a24fee" /><Relationship Type="http://schemas.openxmlformats.org/officeDocument/2006/relationships/notesSlide" Target="/ppt/notesSlides/notesSlide5.xml" Id="R6444497af2804c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37659631048ce" /><Relationship Type="http://schemas.openxmlformats.org/officeDocument/2006/relationships/notesSlide" Target="/ppt/notesSlides/notesSlide6.xml" Id="R79c6a5e2ef39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1A476-1711-4AE8-979F-FAB53CC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rPr>
              <a:t>Symbolon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0A1BB-F202-4BE7-BF1E-FB53697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9A227"/>
                </a:solidFill>
                <a:latin typeface="Arial"/>
                <a:ea typeface="Arial"/>
                <a:cs typeface="Arial"/>
              </a:rPr>
              <a:t>Symbolon   /   HackCanton Season 3   /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2C311-D68C-4975-995D-7564C03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rPr>
              <a:t>Private fixed-rate repo</a:t>
            </a:r>
          </a:p>
          <a:p xmlns:a="http://schemas.openxmlformats.org/drawingml/2006/main">
            <a:pPr>
              <a:defRPr sz="48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rPr>
              <a:t>on Canton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69424-A0D4-4D09-AABD-088E221A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4E9CE"/>
                </a:solidFill>
                <a:latin typeface="Arial"/>
                <a:ea typeface="Arial"/>
                <a:cs typeface="Arial"/>
              </a:rPr>
              <a:t>Agree the full repurchase price.</a:t>
            </a:r>
          </a:p>
          <a:p xmlns:a="http://schemas.openxmlformats.org/drawingml/2006/main">
            <a:pPr>
              <a:defRPr sz="21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4E9CE"/>
                </a:solidFill>
                <a:latin typeface="Arial"/>
                <a:ea typeface="Arial"/>
                <a:cs typeface="Arial"/>
              </a:rPr>
              <a:t>Manage pledged collateral in the same workflow.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dc3ef951b4c88"/>
          <a:srcRect xmlns:a="http://schemas.openxmlformats.org/drawingml/2006/main" l="15865" t="0" r="15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314950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73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9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930A3-A5C3-43E8-BC3B-4426240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Private financing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7A541-07FE-432C-8CC4-51F7D45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Symbolon   /   HackCanton Season 3   /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DF115-6E89-4A90-ADD5-56A9C2A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24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Treasury 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9479A-D314-4D7F-9D2F-0AE32B9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B1220"/>
                </a:solidFill>
                <a:latin typeface="Arial"/>
                <a:ea typeface="Arial"/>
                <a:cs typeface="Arial"/>
              </a:rPr>
              <a:t>Receives cash against an asset and agrees the price to buy it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C3D2C-41A7-4073-8719-2A86841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Financing dealer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2D16A-C914-4ACC-8C5B-7322E671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B1220"/>
                </a:solidFill>
                <a:latin typeface="Arial"/>
                <a:ea typeface="Arial"/>
                <a:cs typeface="Arial"/>
              </a:rPr>
              <a:t>Funds its private quote. Sees its own agreement and collateral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24D50-1430-422A-A032-822D8172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borrower compares addressed offers. Other dealers do not see the winning repo in their party views.</a:t>
            </a:r>
          </a:p>
        </p:txBody>
      </p:sp>
    </p:spTree>
    <p:extLst>
      <p:ext uri="{BB962C8B-B14F-4D97-AF65-F5344CB8AC3E}">
        <p14:creationId xmlns:p14="http://schemas.microsoft.com/office/powerpoint/2010/main" val="370921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9B8BF-FA58-402F-BEA6-FD49CA7D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rPr>
              <a:t>Repayment agreed before settlement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5DD6-17DB-4A78-BD06-8F3E1123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9A227"/>
                </a:solidFill>
                <a:latin typeface="Arial"/>
                <a:ea typeface="Arial"/>
                <a:cs typeface="Arial"/>
              </a:rPr>
              <a:t>Symbolon   /   HackCanton Season 3   /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250A4-FDD1-4A0F-B9F1-64DB4BF6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75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7875">
                <a:solidFill>
                  <a:srgbClr val="C9A227"/>
                </a:solidFill>
                <a:latin typeface="Arial"/>
                <a:ea typeface="Arial"/>
                <a:cs typeface="Arial"/>
              </a:rPr>
              <a:t>5.2%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A2035-8494-4371-AD35-DE3163D5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Annualized simple rate</a:t>
            </a:r>
          </a:p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30-day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52BE2-36FF-48E7-89AC-DA8D519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F4E9CE"/>
                </a:solidFill>
                <a:latin typeface="Arial"/>
                <a:ea typeface="Arial"/>
                <a:cs typeface="Arial"/>
              </a:rPr>
              <a:t>1,000 CUSD received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41CC9-E973-4653-9AB1-027E412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4E9CE"/>
                </a:solidFill>
                <a:latin typeface="Arial"/>
                <a:ea typeface="Arial"/>
                <a:cs typeface="Arial"/>
              </a:rPr>
              <a:t>1,004.3333333333 CUSD</a:t>
            </a:r>
          </a:p>
          <a:p xmlns:a="http://schemas.openxmlformats.org/drawingml/2006/main">
            <a:pPr>
              <a:defRPr sz="255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4E9CE"/>
                </a:solidFill>
                <a:latin typeface="Arial"/>
                <a:ea typeface="Arial"/>
                <a:cs typeface="Arial"/>
              </a:rPr>
              <a:t>full repurchase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3515-1A40-485C-A545-69B69BA6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E9CE"/>
                </a:solidFill>
                <a:latin typeface="Arial"/>
                <a:ea typeface="Arial"/>
                <a:cs typeface="Arial"/>
              </a:rPr>
              <a:t>Fixed rate lasts for the agreed deal. Maturity is a configurable term.</a:t>
            </a:r>
          </a:p>
        </p:txBody>
      </p:sp>
    </p:spTree>
    <p:extLst>
      <p:ext uri="{BB962C8B-B14F-4D97-AF65-F5344CB8AC3E}">
        <p14:creationId xmlns:p14="http://schemas.microsoft.com/office/powerpoint/2010/main" val="1015048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9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F6D09-58D2-4812-B469-64194571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Collateral risk remains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E8442-7433-40A4-A48C-7C3E924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Symbolon   /   HackCanton Season 3   /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A1CC0-CDBB-41D6-BCEA-95B2161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750">
                <a:solidFill>
                  <a:srgbClr val="0B1220"/>
                </a:solidFill>
                <a:latin typeface="Arial"/>
                <a:ea typeface="Arial"/>
                <a:cs typeface="Arial"/>
              </a:rPr>
              <a:t>1.43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F00F2-3360-4A92-8A7E-4BBF541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Opening health factor</a:t>
            </a:r>
          </a:p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15 CETH at 100 CUSD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92F75-BC73-4802-952B-28693F0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050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750">
                <a:solidFill>
                  <a:srgbClr val="0B122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9A101-CB85-4582-8BD7-87D3C00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8137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Price falls to 60 CUSD</a:t>
            </a:r>
          </a:p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Dealer opens a margin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77EFE-2655-4740-9C10-08675BCD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750">
                <a:solidFill>
                  <a:srgbClr val="0B1220"/>
                </a:solidFill>
                <a:latin typeface="Arial"/>
                <a:ea typeface="Arial"/>
                <a:cs typeface="Arial"/>
              </a:rPr>
              <a:t>1.03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C8655-D92B-4407-82B5-B95BBB1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Borrower adds 3 CETH</a:t>
            </a:r>
          </a:p>
          <a:p xmlns:a="http://schemas.openxmlformats.org/drawingml/2006/main">
            <a:pPr>
              <a:defRPr sz="2175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B1220"/>
                </a:solidFill>
                <a:latin typeface="Arial"/>
                <a:ea typeface="Arial"/>
                <a:cs typeface="Arial"/>
              </a:rPr>
              <a:t>Agreed margin restored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C80B7-52ED-446C-B6EC-4A14199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B1220"/>
                </a:solidFill>
                <a:latin typeface="Arial"/>
                <a:ea typeface="Arial"/>
                <a:cs typeface="Arial"/>
              </a:rPr>
              <a:t>Health factor below 1.00 signals a shortfall against the agreed margin.</a:t>
            </a:r>
          </a:p>
        </p:txBody>
      </p:sp>
    </p:spTree>
    <p:extLst>
      <p:ext uri="{BB962C8B-B14F-4D97-AF65-F5344CB8AC3E}">
        <p14:creationId xmlns:p14="http://schemas.microsoft.com/office/powerpoint/2010/main" val="729928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1D6CF-2C0B-4AEC-9CC4-9E284171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F4E9CE"/>
                </a:solidFill>
                <a:latin typeface="Times New Roman"/>
                <a:ea typeface="Times New Roman"/>
                <a:cs typeface="Times New Roman"/>
              </a:rPr>
              <a:t>BitSafe governance in the repo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9EC79-32E1-414A-B8B0-D5422FC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9A227"/>
                </a:solidFill>
                <a:latin typeface="Arial"/>
                <a:ea typeface="Arial"/>
                <a:cs typeface="Arial"/>
              </a:rPr>
              <a:t>Symbolon   /   HackCanton Season 3   /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C819F-26AF-421A-A7B4-309243E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>
                <a:solidFill>
                  <a:srgbClr val="C9A227"/>
                </a:solidFill>
                <a:latin typeface="Arial"/>
                <a:ea typeface="Arial"/>
                <a:cs typeface="Arial"/>
              </a:defRPr>
            </a:pPr>
            <a:r>
              <a:rPr sz="7650">
                <a:solidFill>
                  <a:srgbClr val="C9A227"/>
                </a:solidFill>
                <a:latin typeface="Arial"/>
                <a:ea typeface="Arial"/>
                <a:cs typeface="Arial"/>
              </a:rPr>
              <a:t>2 of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48B52-EAEC-4786-8E8F-39E7BAF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Governance members approve</a:t>
            </a:r>
          </a:p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a simulated oracle 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B5AD9-4532-438F-8C42-3B7771A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One confirmation cannot execute.</a:t>
            </a:r>
          </a:p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Two confirmations change the mark.</a:t>
            </a:r>
          </a:p>
          <a:p xmlns:a="http://schemas.openxmlformats.org/drawingml/2006/main">
            <a:pPr>
              <a:defRPr sz="240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4E9CE"/>
                </a:solidFill>
                <a:latin typeface="Arial"/>
                <a:ea typeface="Arial"/>
                <a:cs typeface="Arial"/>
              </a:rPr>
              <a:t>The new mark enables a margin call.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8E48C-B0B2-4204-AB08-FE91C718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4E9CE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E9CE"/>
                </a:solidFill>
                <a:latin typeface="Arial"/>
                <a:ea typeface="Arial"/>
                <a:cs typeface="Arial"/>
              </a:rPr>
              <a:t>Verified on three DecMan participants in the official LocalNet.</a:t>
            </a:r>
          </a:p>
        </p:txBody>
      </p:sp>
    </p:spTree>
    <p:extLst>
      <p:ext uri="{BB962C8B-B14F-4D97-AF65-F5344CB8AC3E}">
        <p14:creationId xmlns:p14="http://schemas.microsoft.com/office/powerpoint/2010/main" val="1782150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9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754A6-B066-4989-8B80-F3096F4F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DevNet first, then the reviewed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76AB-A06F-414A-98F1-7FA7017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B1220"/>
                </a:solidFill>
                <a:latin typeface="Arial"/>
                <a:ea typeface="Arial"/>
                <a:cs typeface="Arial"/>
              </a:rPr>
              <a:t>Symbolon   /   HackCanton Season 3   /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C32AC-1ED2-4BC2-A0AF-77F1482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Current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12EC9-E720-4C53-B0BA-91375D95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191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11 core Daml scripts</a:t>
            </a:r>
          </a:p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2 BitSafe governance scripts</a:t>
            </a:r>
          </a:p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27 frontend tests</a:t>
            </a:r>
          </a:p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Committed local repo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4ECE3-9094-46C6-9923-E584DC7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0B1220"/>
                </a:solidFill>
                <a:latin typeface="Times New Roman"/>
                <a:ea typeface="Times New Roman"/>
                <a:cs typeface="Times New Roman"/>
              </a:rPr>
              <a:t>Next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B260B-D71D-4336-8BE4-F5BEA2FB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Verify cBTC / USDCx adapters on DevNet.</a:t>
            </a:r>
          </a:p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Review oracle and closeout rules.</a:t>
            </a:r>
          </a:p>
          <a:p xmlns:a="http://schemas.openxmlformats.org/drawingml/2006/main">
            <a:pPr>
              <a:defRPr sz="225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Promote the same tested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5786F-E6EA-45AD-A9BA-B4D24E6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B1220"/>
                </a:solidFill>
                <a:latin typeface="Arial"/>
                <a:ea typeface="Arial"/>
                <a:cs typeface="Arial"/>
              </a:rPr>
              <a:t>Seeking treasury-operator feedback and a verified DevNet deployment path.</a:t>
            </a:r>
          </a:p>
        </p:txBody>
      </p:sp>
    </p:spTree>
    <p:extLst>
      <p:ext uri="{BB962C8B-B14F-4D97-AF65-F5344CB8AC3E}">
        <p14:creationId xmlns:p14="http://schemas.microsoft.com/office/powerpoint/2010/main" val="1356750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2026-10-05T16:46:20.5510000Z</dcterms:created>
  <dcterms:modified xsi:type="dcterms:W3CDTF">2026-10-05T16:46:20.5510000Z</dcterms:modified>
</coreProperties>
</file>